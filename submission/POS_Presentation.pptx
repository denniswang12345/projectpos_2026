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Sprint 1 ideal</c:v>
                </c:pt>
              </c:strCache>
            </c:strRef>
          </c:tx>
          <c:cat>
            <c:strRef>
              <c:f>Sheet1!$A$2:$A$5</c:f>
              <c:strCache>
                <c:ptCount val="4"/>
                <c:pt idx="0">
                  <c:v>Day 0</c:v>
                </c:pt>
                <c:pt idx="1">
                  <c:v>Day 1</c:v>
                </c:pt>
                <c:pt idx="2">
                  <c:v>Day 2</c:v>
                </c:pt>
                <c:pt idx="3">
                  <c:v>Day 3</c:v>
                </c:pt>
              </c:strCache>
            </c:strRef>
          </c:cat>
          <c:val>
            <c:numRef>
              <c:f>Sheet1!$B$2:$B$5</c:f>
              <c:numCache>
                <c:formatCode>General</c:formatCode>
                <c:ptCount val="4"/>
                <c:pt idx="0">
                  <c:v>15</c:v>
                </c:pt>
                <c:pt idx="1">
                  <c:v>10</c:v>
                </c:pt>
                <c:pt idx="2">
                  <c:v>5</c:v>
                </c:pt>
                <c:pt idx="3">
                  <c:v>0</c:v>
                </c:pt>
              </c:numCache>
            </c:numRef>
          </c:val>
          <c:smooth val="0"/>
        </c:ser>
        <c:ser>
          <c:idx val="1"/>
          <c:order val="1"/>
          <c:tx>
            <c:strRef>
              <c:f>Sheet1!$C$1</c:f>
              <c:strCache>
                <c:ptCount val="1"/>
                <c:pt idx="0">
                  <c:v>Sprint 2 ideal</c:v>
                </c:pt>
              </c:strCache>
            </c:strRef>
          </c:tx>
          <c:cat>
            <c:strRef>
              <c:f>Sheet1!$A$2:$A$5</c:f>
              <c:strCache>
                <c:ptCount val="4"/>
                <c:pt idx="0">
                  <c:v>Day 0</c:v>
                </c:pt>
                <c:pt idx="1">
                  <c:v>Day 1</c:v>
                </c:pt>
                <c:pt idx="2">
                  <c:v>Day 2</c:v>
                </c:pt>
                <c:pt idx="3">
                  <c:v>Day 3</c:v>
                </c:pt>
              </c:strCache>
            </c:strRef>
          </c:cat>
          <c:val>
            <c:numRef>
              <c:f>Sheet1!$C$2:$C$5</c:f>
              <c:numCache>
                <c:formatCode>General</c:formatCode>
                <c:ptCount val="4"/>
                <c:pt idx="0">
                  <c:v>17</c:v>
                </c:pt>
                <c:pt idx="1">
                  <c:v>11.333333333333334</c:v>
                </c:pt>
                <c:pt idx="2">
                  <c:v>5.666666666666667</c:v>
                </c:pt>
                <c:pt idx="3">
                  <c:v>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crossAx val="2140495176"/>
        <c:crosses val="autoZero"/>
        <c:auto val="1"/>
        <c:lblAlgn val="ctr"/>
        <c:lblOffset val="100"/>
        <c:noMultiLvlLbl val="0"/>
      </c:catAx>
      <c:valAx>
        <c:axId val="2140495176"/>
        <c:scaling>
          <c:max val="20.0"/>
          <c:min val="0.0"/>
        </c:scaling>
        <c:delete val="0"/>
        <c:axPos val="l"/>
        <c:majorGridlines/>
        <c:majorTickMark val="out"/>
        <c:minorTickMark val="none"/>
        <c:tickLblPos val="nextTo"/>
        <c:crossAx val="2118791784"/>
        <c:crosses val="autoZero"/>
      </c:valAx>
    </c:plotArea>
    <c:legend>
      <c:legendPos val="r"/>
      <c:layout/>
      <c:overlay val="0"/>
    </c:legend>
    <c:plotVisOnly val="1"/>
    <c:dispBlanksAs val="gap"/>
    <c:showDLblsOverMax val="0"/>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yourself. This project covers cash sales and original-receipt returns. The report adapts Larman, Applying UML and Patterns, third edition, and the supplied assignment.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selected scope and project assumptions. A 30-day policy is a project decision, not a rule quoted from the assignment.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proposed two-sprint plan, not fabricated historical Scrum evidence. Explain short reviews and how feedback could change the next sprint. Source: assignment; Larman Chapters 2 and 5.</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chart contains ideal planned lines only. Actual daily progress has not been recorded. Do not present it as a record of elapsed sprints.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Describe the black-box scenario. Internal collaborations are introduced later. Adapted from Larman Chapter 6 section 6.8, simplified to assignment cash-only scope.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textbook supplies a brief returns scenario in Chapter 6 section 6.2. This project elaborates the same method into a complete use case and design.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Conceptual model. The full report includes payment, refund and inventory concepts and multiplicities. Source: Larman Chapter 9.</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Logical layers are colocated in pos.py. The domain has no console dependency. The controller currently uses repository.db for SQL; a larger version should introduce a unit of work. Source: Larman Chapter 13.</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GRASP Controller coordinates events. Creator assigns line creation to Sale. Information Expert keeps subtotal calculation on the line and total calculation on the aggregate. Sources: Larman Chapters 17 and 18.</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these commands in the project folder with Python 3.10 or newer. The demo is isolated. The interactive command persists data to pos.db.</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Switch to the console instead of reading the report. Execute the isolated demo or the interactive steps. Explain stock changes and attempt an excessive return. All amounts listed here were verified by a real local demo run.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18 local tests passed on 19 October 2026. These cover specified examples and invariants, not production certification or a concurrency stress test.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Completed presentation and source material. Video URL: https://www.bilibili.com/video/BV1xgnp64E3X/. The repository retains the personal branch merged into main. The proposed sprint plan is not a claim of recorded daily sprint activity. Future work includes authentication, printing and electronic payments.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supplied course sources. The diagrams and return policy are adapted for this project. The complete report contains the detailed reading map.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0972800" cy="594360"/>
          </a:xfrm>
          <a:prstGeom prst="rect">
            <a:avLst/>
          </a:prstGeom>
          <a:noFill/>
        </p:spPr>
        <p:txBody>
          <a:bodyPr wrap="square">
            <a:spAutoFit/>
          </a:bodyPr>
          <a:lstStyle/>
          <a:p>
            <a:pPr>
              <a:spcAft>
                <a:spcPts val="1300"/>
              </a:spcAft>
              <a:defRPr sz="3200" b="1">
                <a:solidFill>
                  <a:srgbClr val="152432"/>
                </a:solidFill>
                <a:latin typeface="Arial"/>
              </a:defRPr>
            </a:pPr>
            <a:r>
              <a:t>Analysis and Design of a PoS System</a:t>
            </a:r>
          </a:p>
        </p:txBody>
      </p:sp>
      <p:sp>
        <p:nvSpPr>
          <p:cNvPr id="3" name="TextBox 2"/>
          <p:cNvSpPr txBox="1"/>
          <p:nvPr/>
        </p:nvSpPr>
        <p:spPr>
          <a:xfrm>
            <a:off x="11018520" y="6446520"/>
            <a:ext cx="457200" cy="228600"/>
          </a:xfrm>
          <a:prstGeom prst="rect">
            <a:avLst/>
          </a:prstGeom>
          <a:noFill/>
        </p:spPr>
        <p:txBody>
          <a:bodyPr wrap="square">
            <a:spAutoFit/>
          </a:bodyPr>
          <a:lstStyle/>
          <a:p>
            <a:pPr>
              <a:spcAft>
                <a:spcPts val="1300"/>
              </a:spcAft>
              <a:defRPr sz="1100" b="0">
                <a:solidFill>
                  <a:srgbClr val="52616D"/>
                </a:solidFill>
                <a:latin typeface="Arial"/>
              </a:defRPr>
            </a:pPr>
            <a:r>
              <a:t>1</a:t>
            </a:r>
          </a:p>
        </p:txBody>
      </p:sp>
      <p:sp>
        <p:nvSpPr>
          <p:cNvPr id="4" name="TextBox 3"/>
          <p:cNvSpPr txBox="1"/>
          <p:nvPr/>
        </p:nvSpPr>
        <p:spPr>
          <a:xfrm>
            <a:off x="685800" y="1920240"/>
            <a:ext cx="10789920" cy="1188720"/>
          </a:xfrm>
          <a:prstGeom prst="rect">
            <a:avLst/>
          </a:prstGeom>
          <a:noFill/>
        </p:spPr>
        <p:txBody>
          <a:bodyPr wrap="square">
            <a:spAutoFit/>
          </a:bodyPr>
          <a:lstStyle/>
          <a:p>
            <a:pPr>
              <a:spcAft>
                <a:spcPts val="1300"/>
              </a:spcAft>
              <a:defRPr sz="3800" b="1">
                <a:solidFill>
                  <a:srgbClr val="173651"/>
                </a:solidFill>
                <a:latin typeface="Arial"/>
              </a:defRPr>
            </a:pPr>
            <a:r>
              <a:t>Cash sales and original-receipt returns</a:t>
            </a:r>
          </a:p>
        </p:txBody>
      </p:sp>
      <p:sp>
        <p:nvSpPr>
          <p:cNvPr id="5" name="TextBox 4"/>
          <p:cNvSpPr txBox="1"/>
          <p:nvPr/>
        </p:nvSpPr>
        <p:spPr>
          <a:xfrm>
            <a:off x="713232" y="3703320"/>
            <a:ext cx="10058400" cy="1188720"/>
          </a:xfrm>
          <a:prstGeom prst="rect">
            <a:avLst/>
          </a:prstGeom>
          <a:noFill/>
        </p:spPr>
        <p:txBody>
          <a:bodyPr wrap="square">
            <a:spAutoFit/>
          </a:bodyPr>
          <a:lstStyle/>
          <a:p>
            <a:pPr>
              <a:spcAft>
                <a:spcPts val="1300"/>
              </a:spcAft>
              <a:defRPr sz="2200" b="0">
                <a:solidFill>
                  <a:srgbClr val="152432"/>
                </a:solidFill>
                <a:latin typeface="Arial"/>
              </a:defRPr>
            </a:pPr>
            <a:r>
              <a:t>Wang Hao (汪浩)</a:t>
            </a:r>
          </a:p>
          <a:p>
            <a:pPr>
              <a:spcAft>
                <a:spcPts val="1300"/>
              </a:spcAft>
              <a:defRPr sz="2200" b="0">
                <a:solidFill>
                  <a:srgbClr val="152432"/>
                </a:solidFill>
                <a:latin typeface="Arial"/>
              </a:defRPr>
            </a:pPr>
            <a:r>
              <a:t>NUIST 202383890022    SETU 20109992</a:t>
            </a:r>
          </a:p>
        </p:txBody>
      </p:sp>
      <p:sp>
        <p:nvSpPr>
          <p:cNvPr id="6" name="TextBox 5"/>
          <p:cNvSpPr txBox="1"/>
          <p:nvPr/>
        </p:nvSpPr>
        <p:spPr>
          <a:xfrm>
            <a:off x="713232" y="5577840"/>
            <a:ext cx="10058400" cy="502920"/>
          </a:xfrm>
          <a:prstGeom prst="rect">
            <a:avLst/>
          </a:prstGeom>
          <a:noFill/>
        </p:spPr>
        <p:txBody>
          <a:bodyPr wrap="square">
            <a:spAutoFit/>
          </a:bodyPr>
          <a:lstStyle/>
          <a:p>
            <a:pPr>
              <a:spcAft>
                <a:spcPts val="1300"/>
              </a:spcAft>
              <a:defRPr sz="2000" b="0">
                <a:solidFill>
                  <a:srgbClr val="52616D"/>
                </a:solidFill>
                <a:latin typeface="Arial"/>
              </a:defRPr>
            </a:pPr>
            <a:r>
              <a:t>Software Engineering Practice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0972800" cy="594360"/>
          </a:xfrm>
          <a:prstGeom prst="rect">
            <a:avLst/>
          </a:prstGeom>
          <a:noFill/>
        </p:spPr>
        <p:txBody>
          <a:bodyPr wrap="square">
            <a:spAutoFit/>
          </a:bodyPr>
          <a:lstStyle/>
          <a:p>
            <a:pPr>
              <a:spcAft>
                <a:spcPts val="1300"/>
              </a:spcAft>
              <a:defRPr sz="3200" b="1">
                <a:solidFill>
                  <a:srgbClr val="152432"/>
                </a:solidFill>
                <a:latin typeface="Arial"/>
              </a:defRPr>
            </a:pPr>
            <a:r>
              <a:t>Project scope</a:t>
            </a:r>
          </a:p>
        </p:txBody>
      </p:sp>
      <p:sp>
        <p:nvSpPr>
          <p:cNvPr id="3" name="TextBox 2"/>
          <p:cNvSpPr txBox="1"/>
          <p:nvPr/>
        </p:nvSpPr>
        <p:spPr>
          <a:xfrm>
            <a:off x="11018520" y="6446520"/>
            <a:ext cx="457200" cy="228600"/>
          </a:xfrm>
          <a:prstGeom prst="rect">
            <a:avLst/>
          </a:prstGeom>
          <a:noFill/>
        </p:spPr>
        <p:txBody>
          <a:bodyPr wrap="square">
            <a:spAutoFit/>
          </a:bodyPr>
          <a:lstStyle/>
          <a:p>
            <a:pPr>
              <a:spcAft>
                <a:spcPts val="1300"/>
              </a:spcAft>
              <a:defRPr sz="1100" b="0">
                <a:solidFill>
                  <a:srgbClr val="52616D"/>
                </a:solidFill>
                <a:latin typeface="Arial"/>
              </a:defRPr>
            </a:pPr>
            <a:r>
              <a:t>2</a:t>
            </a:r>
          </a:p>
        </p:txBody>
      </p:sp>
      <p:sp>
        <p:nvSpPr>
          <p:cNvPr id="4" name="TextBox 3"/>
          <p:cNvSpPr txBox="1"/>
          <p:nvPr/>
        </p:nvSpPr>
        <p:spPr>
          <a:xfrm>
            <a:off x="685800" y="1554480"/>
            <a:ext cx="10789920" cy="4389120"/>
          </a:xfrm>
          <a:prstGeom prst="rect">
            <a:avLst/>
          </a:prstGeom>
          <a:noFill/>
        </p:spPr>
        <p:txBody>
          <a:bodyPr wrap="square">
            <a:spAutoFit/>
          </a:bodyPr>
          <a:lstStyle/>
          <a:p>
            <a:pPr>
              <a:spcAft>
                <a:spcPts val="1300"/>
              </a:spcAft>
              <a:defRPr sz="2300" b="0">
                <a:solidFill>
                  <a:srgbClr val="152432"/>
                </a:solidFill>
                <a:latin typeface="Arial"/>
              </a:defRPr>
            </a:pPr>
            <a:r>
              <a:t>Process Sale: record products, accept cash, calculate change and update stock.</a:t>
            </a:r>
          </a:p>
          <a:p>
            <a:pPr>
              <a:spcAft>
                <a:spcPts val="1300"/>
              </a:spcAft>
              <a:defRPr sz="2300" b="0">
                <a:solidFill>
                  <a:srgbClr val="152432"/>
                </a:solidFill>
                <a:latin typeface="Arial"/>
              </a:defRPr>
            </a:pPr>
            <a:r>
              <a:t>Handle Returns: find the original sale, validate quantities and refund the original price.</a:t>
            </a:r>
          </a:p>
          <a:p>
            <a:pPr>
              <a:spcAft>
                <a:spcPts val="1300"/>
              </a:spcAft>
              <a:defRPr sz="2300" b="0">
                <a:solidFill>
                  <a:srgbClr val="152432"/>
                </a:solidFill>
                <a:latin typeface="Arial"/>
              </a:defRPr>
            </a:pPr>
            <a:r>
              <a:t>CNY prices include tax. The cashier uses a local console.</a:t>
            </a:r>
          </a:p>
          <a:p>
            <a:pPr>
              <a:spcAft>
                <a:spcPts val="1300"/>
              </a:spcAft>
              <a:defRPr sz="2300" b="0">
                <a:solidFill>
                  <a:srgbClr val="152432"/>
                </a:solidFill>
                <a:latin typeface="Arial"/>
              </a:defRPr>
            </a:pPr>
            <a:r>
              <a:t>The project assumes a 30-day return period and an identified cashier.</a:t>
            </a:r>
          </a:p>
          <a:p>
            <a:pPr>
              <a:spcAft>
                <a:spcPts val="1300"/>
              </a:spcAft>
              <a:defRPr sz="2300" b="0">
                <a:solidFill>
                  <a:srgbClr val="152432"/>
                </a:solidFill>
                <a:latin typeface="Arial"/>
              </a:defRPr>
            </a:pPr>
            <a:r>
              <a:t>Authentication, electronic payment and physical printers remain future work.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0972800" cy="594360"/>
          </a:xfrm>
          <a:prstGeom prst="rect">
            <a:avLst/>
          </a:prstGeom>
          <a:noFill/>
        </p:spPr>
        <p:txBody>
          <a:bodyPr wrap="square">
            <a:spAutoFit/>
          </a:bodyPr>
          <a:lstStyle/>
          <a:p>
            <a:pPr>
              <a:spcAft>
                <a:spcPts val="1300"/>
              </a:spcAft>
              <a:defRPr sz="3200" b="1">
                <a:solidFill>
                  <a:srgbClr val="152432"/>
                </a:solidFill>
                <a:latin typeface="Arial"/>
              </a:defRPr>
            </a:pPr>
            <a:r>
              <a:t>Proposed agile plan</a:t>
            </a:r>
          </a:p>
        </p:txBody>
      </p:sp>
      <p:sp>
        <p:nvSpPr>
          <p:cNvPr id="3" name="TextBox 2"/>
          <p:cNvSpPr txBox="1"/>
          <p:nvPr/>
        </p:nvSpPr>
        <p:spPr>
          <a:xfrm>
            <a:off x="11018520" y="6446520"/>
            <a:ext cx="457200" cy="228600"/>
          </a:xfrm>
          <a:prstGeom prst="rect">
            <a:avLst/>
          </a:prstGeom>
          <a:noFill/>
        </p:spPr>
        <p:txBody>
          <a:bodyPr wrap="square">
            <a:spAutoFit/>
          </a:bodyPr>
          <a:lstStyle/>
          <a:p>
            <a:pPr>
              <a:spcAft>
                <a:spcPts val="1300"/>
              </a:spcAft>
              <a:defRPr sz="1100" b="0">
                <a:solidFill>
                  <a:srgbClr val="52616D"/>
                </a:solidFill>
                <a:latin typeface="Arial"/>
              </a:defRPr>
            </a:pPr>
            <a:r>
              <a:t>3</a:t>
            </a:r>
          </a:p>
        </p:txBody>
      </p:sp>
      <p:sp>
        <p:nvSpPr>
          <p:cNvPr id="4" name="TextBox 3"/>
          <p:cNvSpPr txBox="1"/>
          <p:nvPr/>
        </p:nvSpPr>
        <p:spPr>
          <a:xfrm>
            <a:off x="685800" y="1508760"/>
            <a:ext cx="5166360" cy="4297680"/>
          </a:xfrm>
          <a:prstGeom prst="rect">
            <a:avLst/>
          </a:prstGeom>
          <a:noFill/>
        </p:spPr>
        <p:txBody>
          <a:bodyPr wrap="square">
            <a:spAutoFit/>
          </a:bodyPr>
          <a:lstStyle/>
          <a:p>
            <a:pPr>
              <a:spcAft>
                <a:spcPts val="1300"/>
              </a:spcAft>
              <a:defRPr sz="2300" b="0">
                <a:solidFill>
                  <a:srgbClr val="152432"/>
                </a:solidFill>
                <a:latin typeface="Arial"/>
              </a:defRPr>
            </a:pPr>
            <a:r>
              <a:t>Sprint 1   3 days   15 points</a:t>
            </a:r>
          </a:p>
          <a:p>
            <a:pPr>
              <a:spcAft>
                <a:spcPts val="1300"/>
              </a:spcAft>
              <a:defRPr sz="2300" b="0">
                <a:solidFill>
                  <a:srgbClr val="152432"/>
                </a:solidFill>
                <a:latin typeface="Arial"/>
              </a:defRPr>
            </a:pPr>
            <a:r>
              <a:t>Product scanning and totals</a:t>
            </a:r>
          </a:p>
          <a:p>
            <a:pPr>
              <a:spcAft>
                <a:spcPts val="1300"/>
              </a:spcAft>
              <a:defRPr sz="2300" b="0">
                <a:solidFill>
                  <a:srgbClr val="152432"/>
                </a:solidFill>
                <a:latin typeface="Arial"/>
              </a:defRPr>
            </a:pPr>
            <a:r>
              <a:t>Cash payment and receipt</a:t>
            </a:r>
          </a:p>
          <a:p>
            <a:pPr>
              <a:spcAft>
                <a:spcPts val="1300"/>
              </a:spcAft>
              <a:defRPr sz="2300" b="0">
                <a:solidFill>
                  <a:srgbClr val="152432"/>
                </a:solidFill>
                <a:latin typeface="Arial"/>
              </a:defRPr>
            </a:pPr>
            <a:r>
              <a:t>Atomic sale and stock update</a:t>
            </a:r>
          </a:p>
          <a:p>
            <a:pPr>
              <a:spcAft>
                <a:spcPts val="1300"/>
              </a:spcAft>
              <a:defRPr sz="2300" b="0">
                <a:solidFill>
                  <a:srgbClr val="152432"/>
                </a:solidFill>
                <a:latin typeface="Arial"/>
              </a:defRPr>
            </a:pPr>
            <a:r>
              <a:t>Review a working cash sale</a:t>
            </a:r>
          </a:p>
        </p:txBody>
      </p:sp>
      <p:sp>
        <p:nvSpPr>
          <p:cNvPr id="5" name="TextBox 4"/>
          <p:cNvSpPr txBox="1"/>
          <p:nvPr/>
        </p:nvSpPr>
        <p:spPr>
          <a:xfrm>
            <a:off x="6400800" y="1508760"/>
            <a:ext cx="5074920" cy="4297680"/>
          </a:xfrm>
          <a:prstGeom prst="rect">
            <a:avLst/>
          </a:prstGeom>
          <a:noFill/>
        </p:spPr>
        <p:txBody>
          <a:bodyPr wrap="square">
            <a:spAutoFit/>
          </a:bodyPr>
          <a:lstStyle/>
          <a:p>
            <a:pPr>
              <a:spcAft>
                <a:spcPts val="1300"/>
              </a:spcAft>
              <a:defRPr sz="2300" b="0">
                <a:solidFill>
                  <a:srgbClr val="152432"/>
                </a:solidFill>
                <a:latin typeface="Arial"/>
              </a:defRPr>
            </a:pPr>
            <a:r>
              <a:t>Sprint 2   3 days   17 points</a:t>
            </a:r>
          </a:p>
          <a:p>
            <a:pPr>
              <a:spcAft>
                <a:spcPts val="1300"/>
              </a:spcAft>
              <a:defRPr sz="2300" b="0">
                <a:solidFill>
                  <a:srgbClr val="152432"/>
                </a:solidFill>
                <a:latin typeface="Arial"/>
              </a:defRPr>
            </a:pPr>
            <a:r>
              <a:t>Receipt lookup and return rules</a:t>
            </a:r>
          </a:p>
          <a:p>
            <a:pPr>
              <a:spcAft>
                <a:spcPts val="1300"/>
              </a:spcAft>
              <a:defRPr sz="2300" b="0">
                <a:solidFill>
                  <a:srgbClr val="152432"/>
                </a:solidFill>
                <a:latin typeface="Arial"/>
              </a:defRPr>
            </a:pPr>
            <a:r>
              <a:t>Original-price refund and restocking</a:t>
            </a:r>
          </a:p>
          <a:p>
            <a:pPr>
              <a:spcAft>
                <a:spcPts val="1300"/>
              </a:spcAft>
              <a:defRPr sz="2300" b="0">
                <a:solidFill>
                  <a:srgbClr val="152432"/>
                </a:solidFill>
                <a:latin typeface="Arial"/>
              </a:defRPr>
            </a:pPr>
            <a:r>
              <a:t>Retry safety and failure tests</a:t>
            </a:r>
          </a:p>
          <a:p>
            <a:pPr>
              <a:spcAft>
                <a:spcPts val="1300"/>
              </a:spcAft>
              <a:defRPr sz="2300" b="0">
                <a:solidFill>
                  <a:srgbClr val="152432"/>
                </a:solidFill>
                <a:latin typeface="Arial"/>
              </a:defRPr>
            </a:pPr>
            <a:r>
              <a:t>Report, slides and demonstration</a:t>
            </a:r>
          </a:p>
        </p:txBody>
      </p:sp>
      <p:sp>
        <p:nvSpPr>
          <p:cNvPr id="6" name="TextBox 5"/>
          <p:cNvSpPr txBox="1"/>
          <p:nvPr/>
        </p:nvSpPr>
        <p:spPr>
          <a:xfrm>
            <a:off x="685800" y="5852160"/>
            <a:ext cx="10789920" cy="548640"/>
          </a:xfrm>
          <a:prstGeom prst="rect">
            <a:avLst/>
          </a:prstGeom>
          <a:noFill/>
        </p:spPr>
        <p:txBody>
          <a:bodyPr wrap="square">
            <a:spAutoFit/>
          </a:bodyPr>
          <a:lstStyle/>
          <a:p>
            <a:pPr>
              <a:spcAft>
                <a:spcPts val="1300"/>
              </a:spcAft>
              <a:defRPr sz="2000" b="0">
                <a:solidFill>
                  <a:srgbClr val="52616D"/>
                </a:solidFill>
                <a:latin typeface="Arial"/>
              </a:defRPr>
            </a:pPr>
            <a:r>
              <a:t>Done means working behavior, passing tests, matching UML and a real commit.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0972800" cy="594360"/>
          </a:xfrm>
          <a:prstGeom prst="rect">
            <a:avLst/>
          </a:prstGeom>
          <a:noFill/>
        </p:spPr>
        <p:txBody>
          <a:bodyPr wrap="square">
            <a:spAutoFit/>
          </a:bodyPr>
          <a:lstStyle/>
          <a:p>
            <a:pPr>
              <a:spcAft>
                <a:spcPts val="1300"/>
              </a:spcAft>
              <a:defRPr sz="3200" b="1">
                <a:solidFill>
                  <a:srgbClr val="152432"/>
                </a:solidFill>
                <a:latin typeface="Arial"/>
              </a:defRPr>
            </a:pPr>
            <a:r>
              <a:t>Planned burndown</a:t>
            </a:r>
          </a:p>
        </p:txBody>
      </p:sp>
      <p:sp>
        <p:nvSpPr>
          <p:cNvPr id="3" name="TextBox 2"/>
          <p:cNvSpPr txBox="1"/>
          <p:nvPr/>
        </p:nvSpPr>
        <p:spPr>
          <a:xfrm>
            <a:off x="11018520" y="6446520"/>
            <a:ext cx="457200" cy="228600"/>
          </a:xfrm>
          <a:prstGeom prst="rect">
            <a:avLst/>
          </a:prstGeom>
          <a:noFill/>
        </p:spPr>
        <p:txBody>
          <a:bodyPr wrap="square">
            <a:spAutoFit/>
          </a:bodyPr>
          <a:lstStyle/>
          <a:p>
            <a:pPr>
              <a:spcAft>
                <a:spcPts val="1300"/>
              </a:spcAft>
              <a:defRPr sz="1100" b="0">
                <a:solidFill>
                  <a:srgbClr val="52616D"/>
                </a:solidFill>
                <a:latin typeface="Arial"/>
              </a:defRPr>
            </a:pPr>
            <a:r>
              <a:t>4</a:t>
            </a:r>
          </a:p>
        </p:txBody>
      </p:sp>
      <p:graphicFrame>
        <p:nvGraphicFramePr>
          <p:cNvPr id="4" name="Chart 3"/>
          <p:cNvGraphicFramePr>
            <a:graphicFrameLocks noGrp="1"/>
          </p:cNvGraphicFramePr>
          <p:nvPr/>
        </p:nvGraphicFramePr>
        <p:xfrm>
          <a:off x="822960" y="1371600"/>
          <a:ext cx="10515600" cy="4114800"/>
        </p:xfrm>
        <a:graphic>
          <a:graphicData uri="http://schemas.openxmlformats.org/drawingml/2006/chart">
            <c:chart xmlns:c="http://schemas.openxmlformats.org/drawingml/2006/chart" r:id="rId3"/>
          </a:graphicData>
        </a:graphic>
      </p:graphicFrame>
      <p:sp>
        <p:nvSpPr>
          <p:cNvPr id="5" name="TextBox 4"/>
          <p:cNvSpPr txBox="1"/>
          <p:nvPr/>
        </p:nvSpPr>
        <p:spPr>
          <a:xfrm>
            <a:off x="822960" y="5760720"/>
            <a:ext cx="10424160" cy="457200"/>
          </a:xfrm>
          <a:prstGeom prst="rect">
            <a:avLst/>
          </a:prstGeom>
          <a:noFill/>
        </p:spPr>
        <p:txBody>
          <a:bodyPr wrap="square">
            <a:spAutoFit/>
          </a:bodyPr>
          <a:lstStyle/>
          <a:p>
            <a:pPr>
              <a:spcAft>
                <a:spcPts val="1300"/>
              </a:spcAft>
              <a:defRPr sz="2000" b="0">
                <a:solidFill>
                  <a:srgbClr val="52616D"/>
                </a:solidFill>
                <a:latin typeface="Arial"/>
              </a:defRPr>
            </a:pPr>
            <a:r>
              <a:t>Planning baseline only. Actual measurements must be entered during execution.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0972800" cy="594360"/>
          </a:xfrm>
          <a:prstGeom prst="rect">
            <a:avLst/>
          </a:prstGeom>
          <a:noFill/>
        </p:spPr>
        <p:txBody>
          <a:bodyPr wrap="square">
            <a:spAutoFit/>
          </a:bodyPr>
          <a:lstStyle/>
          <a:p>
            <a:pPr>
              <a:spcAft>
                <a:spcPts val="1300"/>
              </a:spcAft>
              <a:defRPr sz="3200" b="1">
                <a:solidFill>
                  <a:srgbClr val="152432"/>
                </a:solidFill>
                <a:latin typeface="Arial"/>
              </a:defRPr>
            </a:pPr>
            <a:r>
              <a:t>Process Sale</a:t>
            </a:r>
          </a:p>
        </p:txBody>
      </p:sp>
      <p:sp>
        <p:nvSpPr>
          <p:cNvPr id="3" name="TextBox 2"/>
          <p:cNvSpPr txBox="1"/>
          <p:nvPr/>
        </p:nvSpPr>
        <p:spPr>
          <a:xfrm>
            <a:off x="11018520" y="6446520"/>
            <a:ext cx="457200" cy="228600"/>
          </a:xfrm>
          <a:prstGeom prst="rect">
            <a:avLst/>
          </a:prstGeom>
          <a:noFill/>
        </p:spPr>
        <p:txBody>
          <a:bodyPr wrap="square">
            <a:spAutoFit/>
          </a:bodyPr>
          <a:lstStyle/>
          <a:p>
            <a:pPr>
              <a:spcAft>
                <a:spcPts val="1300"/>
              </a:spcAft>
              <a:defRPr sz="1100" b="0">
                <a:solidFill>
                  <a:srgbClr val="52616D"/>
                </a:solidFill>
                <a:latin typeface="Arial"/>
              </a:defRPr>
            </a:pPr>
            <a:r>
              <a:t>5</a:t>
            </a:r>
          </a:p>
        </p:txBody>
      </p:sp>
      <p:sp>
        <p:nvSpPr>
          <p:cNvPr id="4" name="TextBox 3"/>
          <p:cNvSpPr txBox="1"/>
          <p:nvPr/>
        </p:nvSpPr>
        <p:spPr>
          <a:xfrm>
            <a:off x="685800" y="1463040"/>
            <a:ext cx="10698480" cy="4297680"/>
          </a:xfrm>
          <a:prstGeom prst="rect">
            <a:avLst/>
          </a:prstGeom>
          <a:noFill/>
        </p:spPr>
        <p:txBody>
          <a:bodyPr wrap="square">
            <a:spAutoFit/>
          </a:bodyPr>
          <a:lstStyle/>
          <a:p>
            <a:pPr>
              <a:spcAft>
                <a:spcPts val="1300"/>
              </a:spcAft>
              <a:defRPr sz="2500" b="0">
                <a:solidFill>
                  <a:srgbClr val="152432"/>
                </a:solidFill>
                <a:latin typeface="Arial"/>
              </a:defRPr>
            </a:pPr>
            <a:r>
              <a:t>1  Start a sale and enter each product with its quantity.</a:t>
            </a:r>
          </a:p>
          <a:p>
            <a:pPr>
              <a:spcAft>
                <a:spcPts val="1300"/>
              </a:spcAft>
              <a:defRPr sz="2500" b="0">
                <a:solidFill>
                  <a:srgbClr val="152432"/>
                </a:solidFill>
                <a:latin typeface="Arial"/>
              </a:defRPr>
            </a:pPr>
            <a:r>
              <a:t>2  Show descriptions, line prices and the running total.</a:t>
            </a:r>
          </a:p>
          <a:p>
            <a:pPr>
              <a:spcAft>
                <a:spcPts val="1300"/>
              </a:spcAft>
              <a:defRPr sz="2500" b="0">
                <a:solidFill>
                  <a:srgbClr val="152432"/>
                </a:solidFill>
                <a:latin typeface="Arial"/>
              </a:defRPr>
            </a:pPr>
            <a:r>
              <a:t>3  End item entry and accept sufficient cash.</a:t>
            </a:r>
          </a:p>
          <a:p>
            <a:pPr>
              <a:spcAft>
                <a:spcPts val="1300"/>
              </a:spcAft>
              <a:defRPr sz="2500" b="0">
                <a:solidFill>
                  <a:srgbClr val="152432"/>
                </a:solidFill>
                <a:latin typeface="Arial"/>
              </a:defRPr>
            </a:pPr>
            <a:r>
              <a:t>4  Save sale and payment and decrease stock together.</a:t>
            </a:r>
          </a:p>
          <a:p>
            <a:pPr>
              <a:spcAft>
                <a:spcPts val="1300"/>
              </a:spcAft>
              <a:defRPr sz="2500" b="0">
                <a:solidFill>
                  <a:srgbClr val="152432"/>
                </a:solidFill>
                <a:latin typeface="Arial"/>
              </a:defRPr>
            </a:pPr>
            <a:r>
              <a:t>5  Display the receipt and calculate change.</a:t>
            </a:r>
          </a:p>
        </p:txBody>
      </p:sp>
      <p:sp>
        <p:nvSpPr>
          <p:cNvPr id="5" name="TextBox 4"/>
          <p:cNvSpPr txBox="1"/>
          <p:nvPr/>
        </p:nvSpPr>
        <p:spPr>
          <a:xfrm>
            <a:off x="685800" y="5715000"/>
            <a:ext cx="10698480" cy="502920"/>
          </a:xfrm>
          <a:prstGeom prst="rect">
            <a:avLst/>
          </a:prstGeom>
          <a:noFill/>
        </p:spPr>
        <p:txBody>
          <a:bodyPr wrap="square">
            <a:spAutoFit/>
          </a:bodyPr>
          <a:lstStyle/>
          <a:p>
            <a:pPr>
              <a:spcAft>
                <a:spcPts val="1300"/>
              </a:spcAft>
              <a:defRPr sz="2100" b="1">
                <a:solidFill>
                  <a:srgbClr val="285D82"/>
                </a:solidFill>
                <a:latin typeface="Arial"/>
              </a:defRPr>
            </a:pPr>
            <a:r>
              <a:t>Example: MILK × 2 + BREAD × 1 = CNY 21.00. Cash 30.00. Change 9.00.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0972800" cy="594360"/>
          </a:xfrm>
          <a:prstGeom prst="rect">
            <a:avLst/>
          </a:prstGeom>
          <a:noFill/>
        </p:spPr>
        <p:txBody>
          <a:bodyPr wrap="square">
            <a:spAutoFit/>
          </a:bodyPr>
          <a:lstStyle/>
          <a:p>
            <a:pPr>
              <a:spcAft>
                <a:spcPts val="1300"/>
              </a:spcAft>
              <a:defRPr sz="3200" b="1">
                <a:solidFill>
                  <a:srgbClr val="152432"/>
                </a:solidFill>
                <a:latin typeface="Arial"/>
              </a:defRPr>
            </a:pPr>
            <a:r>
              <a:t>Handle Returns</a:t>
            </a:r>
          </a:p>
        </p:txBody>
      </p:sp>
      <p:sp>
        <p:nvSpPr>
          <p:cNvPr id="3" name="TextBox 2"/>
          <p:cNvSpPr txBox="1"/>
          <p:nvPr/>
        </p:nvSpPr>
        <p:spPr>
          <a:xfrm>
            <a:off x="11018520" y="6446520"/>
            <a:ext cx="457200" cy="228600"/>
          </a:xfrm>
          <a:prstGeom prst="rect">
            <a:avLst/>
          </a:prstGeom>
          <a:noFill/>
        </p:spPr>
        <p:txBody>
          <a:bodyPr wrap="square">
            <a:spAutoFit/>
          </a:bodyPr>
          <a:lstStyle/>
          <a:p>
            <a:pPr>
              <a:spcAft>
                <a:spcPts val="1300"/>
              </a:spcAft>
              <a:defRPr sz="1100" b="0">
                <a:solidFill>
                  <a:srgbClr val="52616D"/>
                </a:solidFill>
                <a:latin typeface="Arial"/>
              </a:defRPr>
            </a:pPr>
            <a:r>
              <a:t>6</a:t>
            </a:r>
          </a:p>
        </p:txBody>
      </p:sp>
      <p:sp>
        <p:nvSpPr>
          <p:cNvPr id="4" name="TextBox 3"/>
          <p:cNvSpPr txBox="1"/>
          <p:nvPr/>
        </p:nvSpPr>
        <p:spPr>
          <a:xfrm>
            <a:off x="685800" y="1463040"/>
            <a:ext cx="10698480" cy="4389120"/>
          </a:xfrm>
          <a:prstGeom prst="rect">
            <a:avLst/>
          </a:prstGeom>
          <a:noFill/>
        </p:spPr>
        <p:txBody>
          <a:bodyPr wrap="square">
            <a:spAutoFit/>
          </a:bodyPr>
          <a:lstStyle/>
          <a:p>
            <a:pPr>
              <a:spcAft>
                <a:spcPts val="1300"/>
              </a:spcAft>
              <a:defRPr sz="2500" b="0">
                <a:solidFill>
                  <a:srgbClr val="152432"/>
                </a:solidFill>
                <a:latin typeface="Arial"/>
              </a:defRPr>
            </a:pPr>
            <a:r>
              <a:t>1  Retrieve the completed original receipt.</a:t>
            </a:r>
          </a:p>
          <a:p>
            <a:pPr>
              <a:spcAft>
                <a:spcPts val="1300"/>
              </a:spcAft>
              <a:defRPr sz="2500" b="0">
                <a:solidFill>
                  <a:srgbClr val="152432"/>
                </a:solidFill>
                <a:latin typeface="Arial"/>
              </a:defRPr>
            </a:pPr>
            <a:r>
              <a:t>2  Select returned items and inspect their condition.</a:t>
            </a:r>
          </a:p>
          <a:p>
            <a:pPr>
              <a:spcAft>
                <a:spcPts val="1300"/>
              </a:spcAft>
              <a:defRPr sz="2500" b="0">
                <a:solidFill>
                  <a:srgbClr val="152432"/>
                </a:solidFill>
                <a:latin typeface="Arial"/>
              </a:defRPr>
            </a:pPr>
            <a:r>
              <a:t>3  Check the date and unreturned purchased quantities.</a:t>
            </a:r>
          </a:p>
          <a:p>
            <a:pPr>
              <a:spcAft>
                <a:spcPts val="1300"/>
              </a:spcAft>
              <a:defRPr sz="2500" b="0">
                <a:solidFill>
                  <a:srgbClr val="152432"/>
                </a:solidFill>
                <a:latin typeface="Arial"/>
              </a:defRPr>
            </a:pPr>
            <a:r>
              <a:t>4  Refund the stored original price and record the return.</a:t>
            </a:r>
          </a:p>
          <a:p>
            <a:pPr>
              <a:spcAft>
                <a:spcPts val="1300"/>
              </a:spcAft>
              <a:defRPr sz="2500" b="0">
                <a:solidFill>
                  <a:srgbClr val="152432"/>
                </a:solidFill>
                <a:latin typeface="Arial"/>
              </a:defRPr>
            </a:pPr>
            <a:r>
              <a:t>5  Restock eligible goods and display the refund receipt.</a:t>
            </a:r>
          </a:p>
        </p:txBody>
      </p:sp>
      <p:sp>
        <p:nvSpPr>
          <p:cNvPr id="5" name="TextBox 4"/>
          <p:cNvSpPr txBox="1"/>
          <p:nvPr/>
        </p:nvSpPr>
        <p:spPr>
          <a:xfrm>
            <a:off x="685800" y="5669280"/>
            <a:ext cx="10698480" cy="594360"/>
          </a:xfrm>
          <a:prstGeom prst="rect">
            <a:avLst/>
          </a:prstGeom>
          <a:noFill/>
        </p:spPr>
        <p:txBody>
          <a:bodyPr wrap="square">
            <a:spAutoFit/>
          </a:bodyPr>
          <a:lstStyle/>
          <a:p>
            <a:pPr>
              <a:spcAft>
                <a:spcPts val="1300"/>
              </a:spcAft>
              <a:defRPr sz="2100" b="1">
                <a:solidFill>
                  <a:srgbClr val="285D82"/>
                </a:solidFill>
                <a:latin typeface="Arial"/>
              </a:defRPr>
            </a:pPr>
            <a:r>
              <a:t>One milk refund: CNY 6.50. A damaged accepted item does not increase saleable stock.</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0972800" cy="594360"/>
          </a:xfrm>
          <a:prstGeom prst="rect">
            <a:avLst/>
          </a:prstGeom>
          <a:noFill/>
        </p:spPr>
        <p:txBody>
          <a:bodyPr wrap="square">
            <a:spAutoFit/>
          </a:bodyPr>
          <a:lstStyle/>
          <a:p>
            <a:pPr>
              <a:spcAft>
                <a:spcPts val="1300"/>
              </a:spcAft>
              <a:defRPr sz="3200" b="1">
                <a:solidFill>
                  <a:srgbClr val="152432"/>
                </a:solidFill>
                <a:latin typeface="Arial"/>
              </a:defRPr>
            </a:pPr>
            <a:r>
              <a:t>Domain model</a:t>
            </a:r>
          </a:p>
        </p:txBody>
      </p:sp>
      <p:sp>
        <p:nvSpPr>
          <p:cNvPr id="3" name="TextBox 2"/>
          <p:cNvSpPr txBox="1"/>
          <p:nvPr/>
        </p:nvSpPr>
        <p:spPr>
          <a:xfrm>
            <a:off x="11018520" y="6446520"/>
            <a:ext cx="457200" cy="228600"/>
          </a:xfrm>
          <a:prstGeom prst="rect">
            <a:avLst/>
          </a:prstGeom>
          <a:noFill/>
        </p:spPr>
        <p:txBody>
          <a:bodyPr wrap="square">
            <a:spAutoFit/>
          </a:bodyPr>
          <a:lstStyle/>
          <a:p>
            <a:pPr>
              <a:spcAft>
                <a:spcPts val="1300"/>
              </a:spcAft>
              <a:defRPr sz="1100" b="0">
                <a:solidFill>
                  <a:srgbClr val="52616D"/>
                </a:solidFill>
                <a:latin typeface="Arial"/>
              </a:defRPr>
            </a:pPr>
            <a:r>
              <a:t>7</a:t>
            </a:r>
          </a:p>
        </p:txBody>
      </p:sp>
      <p:sp>
        <p:nvSpPr>
          <p:cNvPr id="4" name="Rectangle 3"/>
          <p:cNvSpPr/>
          <p:nvPr/>
        </p:nvSpPr>
        <p:spPr>
          <a:xfrm>
            <a:off x="640080" y="1554480"/>
            <a:ext cx="2834640" cy="1508760"/>
          </a:xfrm>
          <a:prstGeom prst="rect">
            <a:avLst/>
          </a:prstGeom>
          <a:solidFill>
            <a:srgbClr val="F0F4F7"/>
          </a:solidFill>
          <a:ln>
            <a:solidFill>
              <a:srgbClr val="285D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19" y="1645920"/>
            <a:ext cx="2651760" cy="457200"/>
          </a:xfrm>
          <a:prstGeom prst="rect">
            <a:avLst/>
          </a:prstGeom>
          <a:noFill/>
        </p:spPr>
        <p:txBody>
          <a:bodyPr wrap="square">
            <a:spAutoFit/>
          </a:bodyPr>
          <a:lstStyle/>
          <a:p>
            <a:pPr>
              <a:spcAft>
                <a:spcPts val="1300"/>
              </a:spcAft>
              <a:defRPr sz="1900" b="1">
                <a:solidFill>
                  <a:srgbClr val="152432"/>
                </a:solidFill>
                <a:latin typeface="Arial"/>
              </a:defRPr>
            </a:pPr>
            <a:r>
              <a:t>Sale</a:t>
            </a:r>
          </a:p>
        </p:txBody>
      </p:sp>
      <p:sp>
        <p:nvSpPr>
          <p:cNvPr id="6" name="TextBox 5"/>
          <p:cNvSpPr txBox="1"/>
          <p:nvPr/>
        </p:nvSpPr>
        <p:spPr>
          <a:xfrm>
            <a:off x="731519" y="2148840"/>
            <a:ext cx="2651760" cy="868680"/>
          </a:xfrm>
          <a:prstGeom prst="rect">
            <a:avLst/>
          </a:prstGeom>
          <a:noFill/>
        </p:spPr>
        <p:txBody>
          <a:bodyPr wrap="square">
            <a:spAutoFit/>
          </a:bodyPr>
          <a:lstStyle/>
          <a:p>
            <a:pPr>
              <a:spcAft>
                <a:spcPts val="1300"/>
              </a:spcAft>
              <a:defRPr sz="1700" b="0">
                <a:solidFill>
                  <a:srgbClr val="152432"/>
                </a:solidFill>
                <a:latin typeface="Arial"/>
              </a:defRPr>
            </a:pPr>
            <a:r>
              <a:t>date and total</a:t>
            </a:r>
          </a:p>
        </p:txBody>
      </p:sp>
      <p:sp>
        <p:nvSpPr>
          <p:cNvPr id="7" name="Rectangle 6"/>
          <p:cNvSpPr/>
          <p:nvPr/>
        </p:nvSpPr>
        <p:spPr>
          <a:xfrm>
            <a:off x="4617720" y="1554480"/>
            <a:ext cx="2926080" cy="1508760"/>
          </a:xfrm>
          <a:prstGeom prst="rect">
            <a:avLst/>
          </a:prstGeom>
          <a:solidFill>
            <a:srgbClr val="F0F4F7"/>
          </a:solidFill>
          <a:ln>
            <a:solidFill>
              <a:srgbClr val="285D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09159" y="1645920"/>
            <a:ext cx="2743200" cy="457200"/>
          </a:xfrm>
          <a:prstGeom prst="rect">
            <a:avLst/>
          </a:prstGeom>
          <a:noFill/>
        </p:spPr>
        <p:txBody>
          <a:bodyPr wrap="square">
            <a:spAutoFit/>
          </a:bodyPr>
          <a:lstStyle/>
          <a:p>
            <a:pPr>
              <a:spcAft>
                <a:spcPts val="1300"/>
              </a:spcAft>
              <a:defRPr sz="1900" b="1">
                <a:solidFill>
                  <a:srgbClr val="152432"/>
                </a:solidFill>
                <a:latin typeface="Arial"/>
              </a:defRPr>
            </a:pPr>
            <a:r>
              <a:t>SalesLineItem</a:t>
            </a:r>
          </a:p>
        </p:txBody>
      </p:sp>
      <p:sp>
        <p:nvSpPr>
          <p:cNvPr id="9" name="TextBox 8"/>
          <p:cNvSpPr txBox="1"/>
          <p:nvPr/>
        </p:nvSpPr>
        <p:spPr>
          <a:xfrm>
            <a:off x="4709159" y="2148840"/>
            <a:ext cx="2743200" cy="868680"/>
          </a:xfrm>
          <a:prstGeom prst="rect">
            <a:avLst/>
          </a:prstGeom>
          <a:noFill/>
        </p:spPr>
        <p:txBody>
          <a:bodyPr wrap="square">
            <a:spAutoFit/>
          </a:bodyPr>
          <a:lstStyle/>
          <a:p>
            <a:pPr>
              <a:spcAft>
                <a:spcPts val="1300"/>
              </a:spcAft>
              <a:defRPr sz="1700" b="0">
                <a:solidFill>
                  <a:srgbClr val="152432"/>
                </a:solidFill>
                <a:latin typeface="Arial"/>
              </a:defRPr>
            </a:pPr>
            <a:r>
              <a:t>quantity and original price</a:t>
            </a:r>
          </a:p>
        </p:txBody>
      </p:sp>
      <p:sp>
        <p:nvSpPr>
          <p:cNvPr id="10" name="Rectangle 9"/>
          <p:cNvSpPr/>
          <p:nvPr/>
        </p:nvSpPr>
        <p:spPr>
          <a:xfrm>
            <a:off x="8686800" y="1554480"/>
            <a:ext cx="2834640" cy="1508760"/>
          </a:xfrm>
          <a:prstGeom prst="rect">
            <a:avLst/>
          </a:prstGeom>
          <a:solidFill>
            <a:srgbClr val="F0F4F7"/>
          </a:solidFill>
          <a:ln>
            <a:solidFill>
              <a:srgbClr val="285D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778240" y="1645920"/>
            <a:ext cx="2651760" cy="457200"/>
          </a:xfrm>
          <a:prstGeom prst="rect">
            <a:avLst/>
          </a:prstGeom>
          <a:noFill/>
        </p:spPr>
        <p:txBody>
          <a:bodyPr wrap="square">
            <a:spAutoFit/>
          </a:bodyPr>
          <a:lstStyle/>
          <a:p>
            <a:pPr>
              <a:spcAft>
                <a:spcPts val="1300"/>
              </a:spcAft>
              <a:defRPr sz="1900" b="1">
                <a:solidFill>
                  <a:srgbClr val="152432"/>
                </a:solidFill>
                <a:latin typeface="Arial"/>
              </a:defRPr>
            </a:pPr>
            <a:r>
              <a:t>ProductDescription</a:t>
            </a:r>
          </a:p>
        </p:txBody>
      </p:sp>
      <p:sp>
        <p:nvSpPr>
          <p:cNvPr id="12" name="TextBox 11"/>
          <p:cNvSpPr txBox="1"/>
          <p:nvPr/>
        </p:nvSpPr>
        <p:spPr>
          <a:xfrm>
            <a:off x="8778240" y="2148840"/>
            <a:ext cx="2651760" cy="868680"/>
          </a:xfrm>
          <a:prstGeom prst="rect">
            <a:avLst/>
          </a:prstGeom>
          <a:noFill/>
        </p:spPr>
        <p:txBody>
          <a:bodyPr wrap="square">
            <a:spAutoFit/>
          </a:bodyPr>
          <a:lstStyle/>
          <a:p>
            <a:pPr>
              <a:spcAft>
                <a:spcPts val="1300"/>
              </a:spcAft>
              <a:defRPr sz="1700" b="0">
                <a:solidFill>
                  <a:srgbClr val="152432"/>
                </a:solidFill>
                <a:latin typeface="Arial"/>
              </a:defRPr>
            </a:pPr>
            <a:r>
              <a:t>identifier and catalog price</a:t>
            </a:r>
          </a:p>
        </p:txBody>
      </p:sp>
      <p:sp>
        <p:nvSpPr>
          <p:cNvPr id="13" name="Rectangle 12"/>
          <p:cNvSpPr/>
          <p:nvPr/>
        </p:nvSpPr>
        <p:spPr>
          <a:xfrm>
            <a:off x="640080" y="4206240"/>
            <a:ext cx="2834640" cy="1508760"/>
          </a:xfrm>
          <a:prstGeom prst="rect">
            <a:avLst/>
          </a:prstGeom>
          <a:solidFill>
            <a:srgbClr val="F0F4F7"/>
          </a:solidFill>
          <a:ln>
            <a:solidFill>
              <a:srgbClr val="285D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19" y="4297679"/>
            <a:ext cx="2651760" cy="457200"/>
          </a:xfrm>
          <a:prstGeom prst="rect">
            <a:avLst/>
          </a:prstGeom>
          <a:noFill/>
        </p:spPr>
        <p:txBody>
          <a:bodyPr wrap="square">
            <a:spAutoFit/>
          </a:bodyPr>
          <a:lstStyle/>
          <a:p>
            <a:pPr>
              <a:spcAft>
                <a:spcPts val="1300"/>
              </a:spcAft>
              <a:defRPr sz="1900" b="1">
                <a:solidFill>
                  <a:srgbClr val="152432"/>
                </a:solidFill>
                <a:latin typeface="Arial"/>
              </a:defRPr>
            </a:pPr>
            <a:r>
              <a:t>Return</a:t>
            </a:r>
          </a:p>
        </p:txBody>
      </p:sp>
      <p:sp>
        <p:nvSpPr>
          <p:cNvPr id="15" name="TextBox 14"/>
          <p:cNvSpPr txBox="1"/>
          <p:nvPr/>
        </p:nvSpPr>
        <p:spPr>
          <a:xfrm>
            <a:off x="731519" y="4800600"/>
            <a:ext cx="2651760" cy="868680"/>
          </a:xfrm>
          <a:prstGeom prst="rect">
            <a:avLst/>
          </a:prstGeom>
          <a:noFill/>
        </p:spPr>
        <p:txBody>
          <a:bodyPr wrap="square">
            <a:spAutoFit/>
          </a:bodyPr>
          <a:lstStyle/>
          <a:p>
            <a:pPr>
              <a:spcAft>
                <a:spcPts val="1300"/>
              </a:spcAft>
              <a:defRPr sz="1700" b="0">
                <a:solidFill>
                  <a:srgbClr val="152432"/>
                </a:solidFill>
                <a:latin typeface="Arial"/>
              </a:defRPr>
            </a:pPr>
            <a:r>
              <a:t>original sale reference</a:t>
            </a:r>
          </a:p>
        </p:txBody>
      </p:sp>
      <p:sp>
        <p:nvSpPr>
          <p:cNvPr id="16" name="Rectangle 15"/>
          <p:cNvSpPr/>
          <p:nvPr/>
        </p:nvSpPr>
        <p:spPr>
          <a:xfrm>
            <a:off x="4617720" y="4206240"/>
            <a:ext cx="2926080" cy="1508760"/>
          </a:xfrm>
          <a:prstGeom prst="rect">
            <a:avLst/>
          </a:prstGeom>
          <a:solidFill>
            <a:srgbClr val="F0F4F7"/>
          </a:solidFill>
          <a:ln>
            <a:solidFill>
              <a:srgbClr val="285D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709159" y="4297679"/>
            <a:ext cx="2743200" cy="457200"/>
          </a:xfrm>
          <a:prstGeom prst="rect">
            <a:avLst/>
          </a:prstGeom>
          <a:noFill/>
        </p:spPr>
        <p:txBody>
          <a:bodyPr wrap="square">
            <a:spAutoFit/>
          </a:bodyPr>
          <a:lstStyle/>
          <a:p>
            <a:pPr>
              <a:spcAft>
                <a:spcPts val="1300"/>
              </a:spcAft>
              <a:defRPr sz="1900" b="1">
                <a:solidFill>
                  <a:srgbClr val="152432"/>
                </a:solidFill>
                <a:latin typeface="Arial"/>
              </a:defRPr>
            </a:pPr>
            <a:r>
              <a:t>ReturnLineItem</a:t>
            </a:r>
          </a:p>
        </p:txBody>
      </p:sp>
      <p:sp>
        <p:nvSpPr>
          <p:cNvPr id="18" name="TextBox 17"/>
          <p:cNvSpPr txBox="1"/>
          <p:nvPr/>
        </p:nvSpPr>
        <p:spPr>
          <a:xfrm>
            <a:off x="4709159" y="4800600"/>
            <a:ext cx="2743200" cy="868680"/>
          </a:xfrm>
          <a:prstGeom prst="rect">
            <a:avLst/>
          </a:prstGeom>
          <a:noFill/>
        </p:spPr>
        <p:txBody>
          <a:bodyPr wrap="square">
            <a:spAutoFit/>
          </a:bodyPr>
          <a:lstStyle/>
          <a:p>
            <a:pPr>
              <a:spcAft>
                <a:spcPts val="1300"/>
              </a:spcAft>
              <a:defRPr sz="1700" b="0">
                <a:solidFill>
                  <a:srgbClr val="152432"/>
                </a:solidFill>
                <a:latin typeface="Arial"/>
              </a:defRPr>
            </a:pPr>
            <a:r>
              <a:t>quantity and restock choice</a:t>
            </a:r>
          </a:p>
        </p:txBody>
      </p:sp>
      <p:cxnSp>
        <p:nvCxnSpPr>
          <p:cNvPr id="19" name="Connector 18"/>
          <p:cNvCxnSpPr/>
          <p:nvPr/>
        </p:nvCxnSpPr>
        <p:spPr>
          <a:xfrm>
            <a:off x="3474720" y="2286000"/>
            <a:ext cx="1143000" cy="0"/>
          </a:xfrm>
          <a:prstGeom prst="line">
            <a:avLst/>
          </a:prstGeom>
          <a:ln w="20320">
            <a:solidFill>
              <a:srgbClr val="285D82"/>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3611880" y="1828800"/>
            <a:ext cx="914400" cy="411480"/>
          </a:xfrm>
          <a:prstGeom prst="rect">
            <a:avLst/>
          </a:prstGeom>
          <a:noFill/>
        </p:spPr>
        <p:txBody>
          <a:bodyPr wrap="square">
            <a:spAutoFit/>
          </a:bodyPr>
          <a:lstStyle/>
          <a:p>
            <a:pPr>
              <a:spcAft>
                <a:spcPts val="1300"/>
              </a:spcAft>
              <a:defRPr sz="1700" b="0">
                <a:solidFill>
                  <a:srgbClr val="152432"/>
                </a:solidFill>
                <a:latin typeface="Arial"/>
              </a:defRPr>
            </a:pPr>
            <a:r>
              <a:t>1   1..*</a:t>
            </a:r>
          </a:p>
        </p:txBody>
      </p:sp>
      <p:cxnSp>
        <p:nvCxnSpPr>
          <p:cNvPr id="21" name="Connector 20"/>
          <p:cNvCxnSpPr/>
          <p:nvPr/>
        </p:nvCxnSpPr>
        <p:spPr>
          <a:xfrm>
            <a:off x="7543800" y="2286000"/>
            <a:ext cx="1143000" cy="0"/>
          </a:xfrm>
          <a:prstGeom prst="line">
            <a:avLst/>
          </a:prstGeom>
          <a:ln w="20320">
            <a:solidFill>
              <a:srgbClr val="285D82"/>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7680960" y="1828800"/>
            <a:ext cx="914400" cy="411480"/>
          </a:xfrm>
          <a:prstGeom prst="rect">
            <a:avLst/>
          </a:prstGeom>
          <a:noFill/>
        </p:spPr>
        <p:txBody>
          <a:bodyPr wrap="square">
            <a:spAutoFit/>
          </a:bodyPr>
          <a:lstStyle/>
          <a:p>
            <a:pPr>
              <a:spcAft>
                <a:spcPts val="1300"/>
              </a:spcAft>
              <a:defRPr sz="1700" b="0">
                <a:solidFill>
                  <a:srgbClr val="152432"/>
                </a:solidFill>
                <a:latin typeface="Arial"/>
              </a:defRPr>
            </a:pPr>
            <a:r>
              <a:t>*   1</a:t>
            </a:r>
          </a:p>
        </p:txBody>
      </p:sp>
      <p:cxnSp>
        <p:nvCxnSpPr>
          <p:cNvPr id="23" name="Connector 22"/>
          <p:cNvCxnSpPr/>
          <p:nvPr/>
        </p:nvCxnSpPr>
        <p:spPr>
          <a:xfrm>
            <a:off x="2011680" y="3063240"/>
            <a:ext cx="0" cy="1143000"/>
          </a:xfrm>
          <a:prstGeom prst="line">
            <a:avLst/>
          </a:prstGeom>
          <a:ln w="20320">
            <a:solidFill>
              <a:srgbClr val="285D82"/>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2148840" y="3383280"/>
            <a:ext cx="1920240" cy="594360"/>
          </a:xfrm>
          <a:prstGeom prst="rect">
            <a:avLst/>
          </a:prstGeom>
          <a:noFill/>
        </p:spPr>
        <p:txBody>
          <a:bodyPr wrap="square">
            <a:spAutoFit/>
          </a:bodyPr>
          <a:lstStyle/>
          <a:p>
            <a:pPr>
              <a:spcAft>
                <a:spcPts val="1300"/>
              </a:spcAft>
              <a:defRPr sz="1700" b="0">
                <a:solidFill>
                  <a:srgbClr val="152432"/>
                </a:solidFill>
                <a:latin typeface="Arial"/>
              </a:defRPr>
            </a:pPr>
            <a:r>
              <a:t>1 original sale</a:t>
            </a:r>
          </a:p>
          <a:p>
            <a:pPr>
              <a:spcAft>
                <a:spcPts val="1300"/>
              </a:spcAft>
              <a:defRPr sz="1700" b="0">
                <a:solidFill>
                  <a:srgbClr val="152432"/>
                </a:solidFill>
                <a:latin typeface="Arial"/>
              </a:defRPr>
            </a:pPr>
            <a:r>
              <a:t>0..* returns</a:t>
            </a:r>
          </a:p>
        </p:txBody>
      </p:sp>
      <p:cxnSp>
        <p:nvCxnSpPr>
          <p:cNvPr id="25" name="Connector 24"/>
          <p:cNvCxnSpPr/>
          <p:nvPr/>
        </p:nvCxnSpPr>
        <p:spPr>
          <a:xfrm>
            <a:off x="3474720" y="4937760"/>
            <a:ext cx="1143000" cy="0"/>
          </a:xfrm>
          <a:prstGeom prst="line">
            <a:avLst/>
          </a:prstGeom>
          <a:ln w="20320">
            <a:solidFill>
              <a:srgbClr val="285D82"/>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3611880" y="4480560"/>
            <a:ext cx="914400" cy="411480"/>
          </a:xfrm>
          <a:prstGeom prst="rect">
            <a:avLst/>
          </a:prstGeom>
          <a:noFill/>
        </p:spPr>
        <p:txBody>
          <a:bodyPr wrap="square">
            <a:spAutoFit/>
          </a:bodyPr>
          <a:lstStyle/>
          <a:p>
            <a:pPr>
              <a:spcAft>
                <a:spcPts val="1300"/>
              </a:spcAft>
              <a:defRPr sz="1700" b="0">
                <a:solidFill>
                  <a:srgbClr val="152432"/>
                </a:solidFill>
                <a:latin typeface="Arial"/>
              </a:defRPr>
            </a:pPr>
            <a:r>
              <a:t>1   1..*</a:t>
            </a:r>
          </a:p>
        </p:txBody>
      </p:sp>
      <p:cxnSp>
        <p:nvCxnSpPr>
          <p:cNvPr id="27" name="Connector 26"/>
          <p:cNvCxnSpPr/>
          <p:nvPr/>
        </p:nvCxnSpPr>
        <p:spPr>
          <a:xfrm>
            <a:off x="6080760" y="3063240"/>
            <a:ext cx="0" cy="1143000"/>
          </a:xfrm>
          <a:prstGeom prst="line">
            <a:avLst/>
          </a:prstGeom>
          <a:ln w="20320">
            <a:solidFill>
              <a:srgbClr val="285D82"/>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6217920" y="3383280"/>
            <a:ext cx="1828800" cy="640080"/>
          </a:xfrm>
          <a:prstGeom prst="rect">
            <a:avLst/>
          </a:prstGeom>
          <a:noFill/>
        </p:spPr>
        <p:txBody>
          <a:bodyPr wrap="square">
            <a:spAutoFit/>
          </a:bodyPr>
          <a:lstStyle/>
          <a:p>
            <a:pPr>
              <a:spcAft>
                <a:spcPts val="1300"/>
              </a:spcAft>
              <a:defRPr sz="1700" b="0">
                <a:solidFill>
                  <a:srgbClr val="152432"/>
                </a:solidFill>
                <a:latin typeface="Arial"/>
              </a:defRPr>
            </a:pPr>
            <a:r>
              <a:t>1 line</a:t>
            </a:r>
          </a:p>
          <a:p>
            <a:pPr>
              <a:spcAft>
                <a:spcPts val="1300"/>
              </a:spcAft>
              <a:defRPr sz="1700" b="0">
                <a:solidFill>
                  <a:srgbClr val="152432"/>
                </a:solidFill>
                <a:latin typeface="Arial"/>
              </a:defRPr>
            </a:pPr>
            <a:r>
              <a:t>0..* returns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0972800" cy="594360"/>
          </a:xfrm>
          <a:prstGeom prst="rect">
            <a:avLst/>
          </a:prstGeom>
          <a:noFill/>
        </p:spPr>
        <p:txBody>
          <a:bodyPr wrap="square">
            <a:spAutoFit/>
          </a:bodyPr>
          <a:lstStyle/>
          <a:p>
            <a:pPr>
              <a:spcAft>
                <a:spcPts val="1300"/>
              </a:spcAft>
              <a:defRPr sz="3200" b="1">
                <a:solidFill>
                  <a:srgbClr val="152432"/>
                </a:solidFill>
                <a:latin typeface="Arial"/>
              </a:defRPr>
            </a:pPr>
            <a:r>
              <a:t>Logical layers</a:t>
            </a:r>
          </a:p>
        </p:txBody>
      </p:sp>
      <p:sp>
        <p:nvSpPr>
          <p:cNvPr id="3" name="TextBox 2"/>
          <p:cNvSpPr txBox="1"/>
          <p:nvPr/>
        </p:nvSpPr>
        <p:spPr>
          <a:xfrm>
            <a:off x="11018520" y="6446520"/>
            <a:ext cx="457200" cy="228600"/>
          </a:xfrm>
          <a:prstGeom prst="rect">
            <a:avLst/>
          </a:prstGeom>
          <a:noFill/>
        </p:spPr>
        <p:txBody>
          <a:bodyPr wrap="square">
            <a:spAutoFit/>
          </a:bodyPr>
          <a:lstStyle/>
          <a:p>
            <a:pPr>
              <a:spcAft>
                <a:spcPts val="1300"/>
              </a:spcAft>
              <a:defRPr sz="1100" b="0">
                <a:solidFill>
                  <a:srgbClr val="52616D"/>
                </a:solidFill>
                <a:latin typeface="Arial"/>
              </a:defRPr>
            </a:pPr>
            <a:r>
              <a:t>8</a:t>
            </a:r>
          </a:p>
        </p:txBody>
      </p:sp>
      <p:sp>
        <p:nvSpPr>
          <p:cNvPr id="4" name="Rectangle 3"/>
          <p:cNvSpPr/>
          <p:nvPr/>
        </p:nvSpPr>
        <p:spPr>
          <a:xfrm>
            <a:off x="1828800" y="1325880"/>
            <a:ext cx="8412480" cy="960120"/>
          </a:xfrm>
          <a:prstGeom prst="rect">
            <a:avLst/>
          </a:prstGeom>
          <a:solidFill>
            <a:srgbClr val="F0F4F7"/>
          </a:solidFill>
          <a:ln>
            <a:solidFill>
              <a:srgbClr val="285D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920240" y="1417320"/>
            <a:ext cx="8229600" cy="457200"/>
          </a:xfrm>
          <a:prstGeom prst="rect">
            <a:avLst/>
          </a:prstGeom>
          <a:noFill/>
        </p:spPr>
        <p:txBody>
          <a:bodyPr wrap="square">
            <a:spAutoFit/>
          </a:bodyPr>
          <a:lstStyle/>
          <a:p>
            <a:pPr>
              <a:spcAft>
                <a:spcPts val="1300"/>
              </a:spcAft>
              <a:defRPr sz="2000" b="1">
                <a:solidFill>
                  <a:srgbClr val="152432"/>
                </a:solidFill>
                <a:latin typeface="Arial"/>
              </a:defRPr>
            </a:pPr>
            <a:r>
              <a:t>Presentation</a:t>
            </a:r>
          </a:p>
        </p:txBody>
      </p:sp>
      <p:sp>
        <p:nvSpPr>
          <p:cNvPr id="6" name="TextBox 5"/>
          <p:cNvSpPr txBox="1"/>
          <p:nvPr/>
        </p:nvSpPr>
        <p:spPr>
          <a:xfrm>
            <a:off x="1920240" y="1920240"/>
            <a:ext cx="8229600" cy="320040"/>
          </a:xfrm>
          <a:prstGeom prst="rect">
            <a:avLst/>
          </a:prstGeom>
          <a:noFill/>
        </p:spPr>
        <p:txBody>
          <a:bodyPr wrap="square">
            <a:spAutoFit/>
          </a:bodyPr>
          <a:lstStyle/>
          <a:p>
            <a:pPr>
              <a:spcAft>
                <a:spcPts val="1300"/>
              </a:spcAft>
              <a:defRPr sz="1800" b="0">
                <a:solidFill>
                  <a:srgbClr val="152432"/>
                </a:solidFill>
                <a:latin typeface="Arial"/>
              </a:defRPr>
            </a:pPr>
            <a:r>
              <a:t>Console input and receipt output</a:t>
            </a:r>
          </a:p>
        </p:txBody>
      </p:sp>
      <p:sp>
        <p:nvSpPr>
          <p:cNvPr id="7" name="Rectangle 6"/>
          <p:cNvSpPr/>
          <p:nvPr/>
        </p:nvSpPr>
        <p:spPr>
          <a:xfrm>
            <a:off x="1828800" y="2514600"/>
            <a:ext cx="8412480" cy="960120"/>
          </a:xfrm>
          <a:prstGeom prst="rect">
            <a:avLst/>
          </a:prstGeom>
          <a:solidFill>
            <a:srgbClr val="F0F4F7"/>
          </a:solidFill>
          <a:ln>
            <a:solidFill>
              <a:srgbClr val="285D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920240" y="2606040"/>
            <a:ext cx="8229600" cy="457200"/>
          </a:xfrm>
          <a:prstGeom prst="rect">
            <a:avLst/>
          </a:prstGeom>
          <a:noFill/>
        </p:spPr>
        <p:txBody>
          <a:bodyPr wrap="square">
            <a:spAutoFit/>
          </a:bodyPr>
          <a:lstStyle/>
          <a:p>
            <a:pPr>
              <a:spcAft>
                <a:spcPts val="1300"/>
              </a:spcAft>
              <a:defRPr sz="2000" b="1">
                <a:solidFill>
                  <a:srgbClr val="152432"/>
                </a:solidFill>
                <a:latin typeface="Arial"/>
              </a:defRPr>
            </a:pPr>
            <a:r>
              <a:t>Application</a:t>
            </a:r>
          </a:p>
        </p:txBody>
      </p:sp>
      <p:sp>
        <p:nvSpPr>
          <p:cNvPr id="9" name="TextBox 8"/>
          <p:cNvSpPr txBox="1"/>
          <p:nvPr/>
        </p:nvSpPr>
        <p:spPr>
          <a:xfrm>
            <a:off x="1920240" y="3108960"/>
            <a:ext cx="8229600" cy="320040"/>
          </a:xfrm>
          <a:prstGeom prst="rect">
            <a:avLst/>
          </a:prstGeom>
          <a:noFill/>
        </p:spPr>
        <p:txBody>
          <a:bodyPr wrap="square">
            <a:spAutoFit/>
          </a:bodyPr>
          <a:lstStyle/>
          <a:p>
            <a:pPr>
              <a:spcAft>
                <a:spcPts val="1300"/>
              </a:spcAft>
              <a:defRPr sz="1800" b="0">
                <a:solidFill>
                  <a:srgbClr val="152432"/>
                </a:solidFill>
                <a:latin typeface="Arial"/>
              </a:defRPr>
            </a:pPr>
            <a:r>
              <a:t>PosController coordinates system requests</a:t>
            </a:r>
          </a:p>
        </p:txBody>
      </p:sp>
      <p:sp>
        <p:nvSpPr>
          <p:cNvPr id="10" name="Rectangle 9"/>
          <p:cNvSpPr/>
          <p:nvPr/>
        </p:nvSpPr>
        <p:spPr>
          <a:xfrm>
            <a:off x="1828800" y="3703320"/>
            <a:ext cx="8412480" cy="960120"/>
          </a:xfrm>
          <a:prstGeom prst="rect">
            <a:avLst/>
          </a:prstGeom>
          <a:solidFill>
            <a:srgbClr val="F0F4F7"/>
          </a:solidFill>
          <a:ln>
            <a:solidFill>
              <a:srgbClr val="285D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920240" y="3794759"/>
            <a:ext cx="8229600" cy="457200"/>
          </a:xfrm>
          <a:prstGeom prst="rect">
            <a:avLst/>
          </a:prstGeom>
          <a:noFill/>
        </p:spPr>
        <p:txBody>
          <a:bodyPr wrap="square">
            <a:spAutoFit/>
          </a:bodyPr>
          <a:lstStyle/>
          <a:p>
            <a:pPr>
              <a:spcAft>
                <a:spcPts val="1300"/>
              </a:spcAft>
              <a:defRPr sz="2000" b="1">
                <a:solidFill>
                  <a:srgbClr val="152432"/>
                </a:solidFill>
                <a:latin typeface="Arial"/>
              </a:defRPr>
            </a:pPr>
            <a:r>
              <a:t>Domain</a:t>
            </a:r>
          </a:p>
        </p:txBody>
      </p:sp>
      <p:sp>
        <p:nvSpPr>
          <p:cNvPr id="12" name="TextBox 11"/>
          <p:cNvSpPr txBox="1"/>
          <p:nvPr/>
        </p:nvSpPr>
        <p:spPr>
          <a:xfrm>
            <a:off x="1920240" y="4297680"/>
            <a:ext cx="8229600" cy="320040"/>
          </a:xfrm>
          <a:prstGeom prst="rect">
            <a:avLst/>
          </a:prstGeom>
          <a:noFill/>
        </p:spPr>
        <p:txBody>
          <a:bodyPr wrap="square">
            <a:spAutoFit/>
          </a:bodyPr>
          <a:lstStyle/>
          <a:p>
            <a:pPr>
              <a:spcAft>
                <a:spcPts val="1300"/>
              </a:spcAft>
              <a:defRPr sz="1800" b="0">
                <a:solidFill>
                  <a:srgbClr val="152432"/>
                </a:solidFill>
                <a:latin typeface="Arial"/>
              </a:defRPr>
            </a:pPr>
            <a:r>
              <a:t>Sale, Return and line items calculate totals</a:t>
            </a:r>
          </a:p>
        </p:txBody>
      </p:sp>
      <p:sp>
        <p:nvSpPr>
          <p:cNvPr id="13" name="Rectangle 12"/>
          <p:cNvSpPr/>
          <p:nvPr/>
        </p:nvSpPr>
        <p:spPr>
          <a:xfrm>
            <a:off x="1828800" y="4892040"/>
            <a:ext cx="8412480" cy="960120"/>
          </a:xfrm>
          <a:prstGeom prst="rect">
            <a:avLst/>
          </a:prstGeom>
          <a:solidFill>
            <a:srgbClr val="F0F4F7"/>
          </a:solidFill>
          <a:ln>
            <a:solidFill>
              <a:srgbClr val="285D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920240" y="4983479"/>
            <a:ext cx="8229600" cy="457200"/>
          </a:xfrm>
          <a:prstGeom prst="rect">
            <a:avLst/>
          </a:prstGeom>
          <a:noFill/>
        </p:spPr>
        <p:txBody>
          <a:bodyPr wrap="square">
            <a:spAutoFit/>
          </a:bodyPr>
          <a:lstStyle/>
          <a:p>
            <a:pPr>
              <a:spcAft>
                <a:spcPts val="1300"/>
              </a:spcAft>
              <a:defRPr sz="2000" b="1">
                <a:solidFill>
                  <a:srgbClr val="152432"/>
                </a:solidFill>
                <a:latin typeface="Arial"/>
              </a:defRPr>
            </a:pPr>
            <a:r>
              <a:t>Persistence</a:t>
            </a:r>
          </a:p>
        </p:txBody>
      </p:sp>
      <p:sp>
        <p:nvSpPr>
          <p:cNvPr id="15" name="TextBox 14"/>
          <p:cNvSpPr txBox="1"/>
          <p:nvPr/>
        </p:nvSpPr>
        <p:spPr>
          <a:xfrm>
            <a:off x="1920240" y="5486400"/>
            <a:ext cx="8229600" cy="320040"/>
          </a:xfrm>
          <a:prstGeom prst="rect">
            <a:avLst/>
          </a:prstGeom>
          <a:noFill/>
        </p:spPr>
        <p:txBody>
          <a:bodyPr wrap="square">
            <a:spAutoFit/>
          </a:bodyPr>
          <a:lstStyle/>
          <a:p>
            <a:pPr>
              <a:spcAft>
                <a:spcPts val="1300"/>
              </a:spcAft>
              <a:defRPr sz="1800" b="0">
                <a:solidFill>
                  <a:srgbClr val="152432"/>
                </a:solidFill>
                <a:latin typeface="Arial"/>
              </a:defRPr>
            </a:pPr>
            <a:r>
              <a:t>SQLiteRepository and SQLite tables</a:t>
            </a:r>
          </a:p>
        </p:txBody>
      </p:sp>
      <p:cxnSp>
        <p:nvCxnSpPr>
          <p:cNvPr id="16" name="Connector 15"/>
          <p:cNvCxnSpPr/>
          <p:nvPr/>
        </p:nvCxnSpPr>
        <p:spPr>
          <a:xfrm>
            <a:off x="6035040" y="2286000"/>
            <a:ext cx="0" cy="228600"/>
          </a:xfrm>
          <a:prstGeom prst="line">
            <a:avLst/>
          </a:prstGeom>
          <a:ln w="20320">
            <a:solidFill>
              <a:srgbClr val="285D82"/>
            </a:solidFill>
            <a:tailEnd type="triangle"/>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035040" y="3474720"/>
            <a:ext cx="0" cy="228600"/>
          </a:xfrm>
          <a:prstGeom prst="line">
            <a:avLst/>
          </a:prstGeom>
          <a:ln w="20320">
            <a:solidFill>
              <a:srgbClr val="285D82"/>
            </a:solidFill>
            <a:tailEnd type="triangle"/>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1005840" y="3017520"/>
            <a:ext cx="822960" cy="0"/>
          </a:xfrm>
          <a:prstGeom prst="line">
            <a:avLst/>
          </a:prstGeom>
          <a:ln w="20320">
            <a:solidFill>
              <a:srgbClr val="285D82"/>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005840" y="3017520"/>
            <a:ext cx="0" cy="2377440"/>
          </a:xfrm>
          <a:prstGeom prst="line">
            <a:avLst/>
          </a:prstGeom>
          <a:ln w="20320">
            <a:solidFill>
              <a:srgbClr val="285D82"/>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005840" y="5394960"/>
            <a:ext cx="822960" cy="0"/>
          </a:xfrm>
          <a:prstGeom prst="line">
            <a:avLst/>
          </a:prstGeom>
          <a:ln w="20320">
            <a:solidFill>
              <a:srgbClr val="285D82"/>
            </a:solidFill>
            <a:tailEnd type="triangle"/>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0972800" cy="594360"/>
          </a:xfrm>
          <a:prstGeom prst="rect">
            <a:avLst/>
          </a:prstGeom>
          <a:noFill/>
        </p:spPr>
        <p:txBody>
          <a:bodyPr wrap="square">
            <a:spAutoFit/>
          </a:bodyPr>
          <a:lstStyle/>
          <a:p>
            <a:pPr>
              <a:spcAft>
                <a:spcPts val="1300"/>
              </a:spcAft>
              <a:defRPr sz="3200" b="1">
                <a:solidFill>
                  <a:srgbClr val="152432"/>
                </a:solidFill>
                <a:latin typeface="Arial"/>
              </a:defRPr>
            </a:pPr>
            <a:r>
              <a:t>Responsibilities and transaction safety</a:t>
            </a:r>
          </a:p>
        </p:txBody>
      </p:sp>
      <p:sp>
        <p:nvSpPr>
          <p:cNvPr id="3" name="TextBox 2"/>
          <p:cNvSpPr txBox="1"/>
          <p:nvPr/>
        </p:nvSpPr>
        <p:spPr>
          <a:xfrm>
            <a:off x="11018520" y="6446520"/>
            <a:ext cx="457200" cy="228600"/>
          </a:xfrm>
          <a:prstGeom prst="rect">
            <a:avLst/>
          </a:prstGeom>
          <a:noFill/>
        </p:spPr>
        <p:txBody>
          <a:bodyPr wrap="square">
            <a:spAutoFit/>
          </a:bodyPr>
          <a:lstStyle/>
          <a:p>
            <a:pPr>
              <a:spcAft>
                <a:spcPts val="1300"/>
              </a:spcAft>
              <a:defRPr sz="1100" b="0">
                <a:solidFill>
                  <a:srgbClr val="52616D"/>
                </a:solidFill>
                <a:latin typeface="Arial"/>
              </a:defRPr>
            </a:pPr>
            <a:r>
              <a:t>9</a:t>
            </a:r>
          </a:p>
        </p:txBody>
      </p:sp>
      <p:sp>
        <p:nvSpPr>
          <p:cNvPr id="4" name="TextBox 3"/>
          <p:cNvSpPr txBox="1"/>
          <p:nvPr/>
        </p:nvSpPr>
        <p:spPr>
          <a:xfrm>
            <a:off x="731520" y="1463040"/>
            <a:ext cx="5120640" cy="4389120"/>
          </a:xfrm>
          <a:prstGeom prst="rect">
            <a:avLst/>
          </a:prstGeom>
          <a:noFill/>
        </p:spPr>
        <p:txBody>
          <a:bodyPr wrap="square">
            <a:spAutoFit/>
          </a:bodyPr>
          <a:lstStyle/>
          <a:p>
            <a:pPr>
              <a:spcAft>
                <a:spcPts val="1300"/>
              </a:spcAft>
              <a:defRPr sz="2400" b="0">
                <a:solidFill>
                  <a:srgbClr val="152432"/>
                </a:solidFill>
                <a:latin typeface="Arial"/>
              </a:defRPr>
            </a:pPr>
            <a:r>
              <a:t>PosController receives system events.</a:t>
            </a:r>
          </a:p>
          <a:p>
            <a:pPr>
              <a:spcAft>
                <a:spcPts val="1300"/>
              </a:spcAft>
              <a:defRPr sz="2400" b="0">
                <a:solidFill>
                  <a:srgbClr val="152432"/>
                </a:solidFill>
                <a:latin typeface="Arial"/>
              </a:defRPr>
            </a:pPr>
            <a:r>
              <a:t>Sale creates its sale lines.</a:t>
            </a:r>
          </a:p>
          <a:p>
            <a:pPr>
              <a:spcAft>
                <a:spcPts val="1300"/>
              </a:spcAft>
              <a:defRPr sz="2400" b="0">
                <a:solidFill>
                  <a:srgbClr val="152432"/>
                </a:solidFill>
                <a:latin typeface="Arial"/>
              </a:defRPr>
            </a:pPr>
            <a:r>
              <a:t>Each line calculates its subtotal.</a:t>
            </a:r>
          </a:p>
          <a:p>
            <a:pPr>
              <a:spcAft>
                <a:spcPts val="1300"/>
              </a:spcAft>
              <a:defRPr sz="2400" b="0">
                <a:solidFill>
                  <a:srgbClr val="152432"/>
                </a:solidFill>
                <a:latin typeface="Arial"/>
              </a:defRPr>
            </a:pPr>
            <a:r>
              <a:t>Sale and Return sum their line subtotals.</a:t>
            </a:r>
          </a:p>
        </p:txBody>
      </p:sp>
      <p:sp>
        <p:nvSpPr>
          <p:cNvPr id="5" name="TextBox 4"/>
          <p:cNvSpPr txBox="1"/>
          <p:nvPr/>
        </p:nvSpPr>
        <p:spPr>
          <a:xfrm>
            <a:off x="6400800" y="1463040"/>
            <a:ext cx="5029200" cy="4389120"/>
          </a:xfrm>
          <a:prstGeom prst="rect">
            <a:avLst/>
          </a:prstGeom>
          <a:noFill/>
        </p:spPr>
        <p:txBody>
          <a:bodyPr wrap="square">
            <a:spAutoFit/>
          </a:bodyPr>
          <a:lstStyle/>
          <a:p>
            <a:pPr>
              <a:spcAft>
                <a:spcPts val="1300"/>
              </a:spcAft>
              <a:defRPr sz="2400" b="0">
                <a:solidFill>
                  <a:srgbClr val="152432"/>
                </a:solidFill>
                <a:latin typeface="Arial"/>
              </a:defRPr>
            </a:pPr>
            <a:r>
              <a:t>BEGIN IMMEDIATE protects validation and updates.</a:t>
            </a:r>
          </a:p>
          <a:p>
            <a:pPr>
              <a:spcAft>
                <a:spcPts val="1300"/>
              </a:spcAft>
              <a:defRPr sz="2400" b="0">
                <a:solidFill>
                  <a:srgbClr val="152432"/>
                </a:solidFill>
                <a:latin typeface="Arial"/>
              </a:defRPr>
            </a:pPr>
            <a:r>
              <a:t>A failed write rolls back the complete operation.</a:t>
            </a:r>
          </a:p>
          <a:p>
            <a:pPr>
              <a:spcAft>
                <a:spcPts val="1300"/>
              </a:spcAft>
              <a:defRPr sz="2400" b="0">
                <a:solidFill>
                  <a:srgbClr val="152432"/>
                </a:solidFill>
                <a:latin typeface="Arial"/>
              </a:defRPr>
            </a:pPr>
            <a:r>
              <a:t>A repeated token returns its saved receipt.</a:t>
            </a:r>
          </a:p>
          <a:p>
            <a:pPr>
              <a:spcAft>
                <a:spcPts val="1300"/>
              </a:spcAft>
              <a:defRPr sz="2400" b="0">
                <a:solidFill>
                  <a:srgbClr val="152432"/>
                </a:solidFill>
                <a:latin typeface="Arial"/>
              </a:defRPr>
            </a:pPr>
            <a:r>
              <a:t>Conflicting token content is rejected.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0972800" cy="594360"/>
          </a:xfrm>
          <a:prstGeom prst="rect">
            <a:avLst/>
          </a:prstGeom>
          <a:noFill/>
        </p:spPr>
        <p:txBody>
          <a:bodyPr wrap="square">
            <a:spAutoFit/>
          </a:bodyPr>
          <a:lstStyle/>
          <a:p>
            <a:pPr>
              <a:spcAft>
                <a:spcPts val="1300"/>
              </a:spcAft>
              <a:defRPr sz="3200" b="1">
                <a:solidFill>
                  <a:srgbClr val="152432"/>
                </a:solidFill>
                <a:latin typeface="Arial"/>
              </a:defRPr>
            </a:pPr>
            <a:r>
              <a:t>Running the implementation</a:t>
            </a:r>
          </a:p>
        </p:txBody>
      </p:sp>
      <p:sp>
        <p:nvSpPr>
          <p:cNvPr id="3" name="TextBox 2"/>
          <p:cNvSpPr txBox="1"/>
          <p:nvPr/>
        </p:nvSpPr>
        <p:spPr>
          <a:xfrm>
            <a:off x="11018520" y="6446520"/>
            <a:ext cx="457200" cy="228600"/>
          </a:xfrm>
          <a:prstGeom prst="rect">
            <a:avLst/>
          </a:prstGeom>
          <a:noFill/>
        </p:spPr>
        <p:txBody>
          <a:bodyPr wrap="square">
            <a:spAutoFit/>
          </a:bodyPr>
          <a:lstStyle/>
          <a:p>
            <a:pPr>
              <a:spcAft>
                <a:spcPts val="1300"/>
              </a:spcAft>
              <a:defRPr sz="1100" b="0">
                <a:solidFill>
                  <a:srgbClr val="52616D"/>
                </a:solidFill>
                <a:latin typeface="Arial"/>
              </a:defRPr>
            </a:pPr>
            <a:r>
              <a:t>10</a:t>
            </a:r>
          </a:p>
        </p:txBody>
      </p:sp>
      <p:sp>
        <p:nvSpPr>
          <p:cNvPr id="4" name="TextBox 3"/>
          <p:cNvSpPr txBox="1"/>
          <p:nvPr/>
        </p:nvSpPr>
        <p:spPr>
          <a:xfrm>
            <a:off x="731520" y="1554480"/>
            <a:ext cx="10607040" cy="1645920"/>
          </a:xfrm>
          <a:prstGeom prst="rect">
            <a:avLst/>
          </a:prstGeom>
          <a:noFill/>
        </p:spPr>
        <p:txBody>
          <a:bodyPr wrap="square">
            <a:spAutoFit/>
          </a:bodyPr>
          <a:lstStyle/>
          <a:p>
            <a:pPr>
              <a:spcAft>
                <a:spcPts val="1300"/>
              </a:spcAft>
              <a:defRPr sz="2600" b="1">
                <a:solidFill>
                  <a:srgbClr val="285D82"/>
                </a:solidFill>
                <a:latin typeface="Arial"/>
              </a:defRPr>
            </a:pPr>
            <a:r>
              <a:t>python pos.py --demo</a:t>
            </a:r>
          </a:p>
          <a:p>
            <a:pPr>
              <a:spcAft>
                <a:spcPts val="1300"/>
              </a:spcAft>
              <a:defRPr sz="2600" b="1">
                <a:solidFill>
                  <a:srgbClr val="285D82"/>
                </a:solidFill>
                <a:latin typeface="Arial"/>
              </a:defRPr>
            </a:pPr>
            <a:r>
              <a:t>python pos.py</a:t>
            </a:r>
          </a:p>
          <a:p>
            <a:pPr>
              <a:spcAft>
                <a:spcPts val="1300"/>
              </a:spcAft>
              <a:defRPr sz="2600" b="1">
                <a:solidFill>
                  <a:srgbClr val="285D82"/>
                </a:solidFill>
                <a:latin typeface="Arial"/>
              </a:defRPr>
            </a:pPr>
            <a:r>
              <a:t>python -m unittest discover -s tests -v</a:t>
            </a:r>
          </a:p>
        </p:txBody>
      </p:sp>
      <p:sp>
        <p:nvSpPr>
          <p:cNvPr id="5" name="TextBox 4"/>
          <p:cNvSpPr txBox="1"/>
          <p:nvPr/>
        </p:nvSpPr>
        <p:spPr>
          <a:xfrm>
            <a:off x="731520" y="3749039"/>
            <a:ext cx="10607040" cy="2011680"/>
          </a:xfrm>
          <a:prstGeom prst="rect">
            <a:avLst/>
          </a:prstGeom>
          <a:noFill/>
        </p:spPr>
        <p:txBody>
          <a:bodyPr wrap="square">
            <a:spAutoFit/>
          </a:bodyPr>
          <a:lstStyle/>
          <a:p>
            <a:pPr>
              <a:spcAft>
                <a:spcPts val="1300"/>
              </a:spcAft>
              <a:defRPr sz="2200" b="0">
                <a:solidFill>
                  <a:srgbClr val="152432"/>
                </a:solidFill>
                <a:latin typeface="Arial"/>
              </a:defRPr>
            </a:pPr>
            <a:r>
              <a:t>Interactive sale: new, add MILK 2, add BREAD 1, total, pay 30.00</a:t>
            </a:r>
          </a:p>
          <a:p>
            <a:pPr>
              <a:spcAft>
                <a:spcPts val="1300"/>
              </a:spcAft>
              <a:defRPr sz="2200" b="0">
                <a:solidFill>
                  <a:srgbClr val="152432"/>
                </a:solidFill>
                <a:latin typeface="Arial"/>
              </a:defRPr>
            </a:pPr>
            <a:r>
              <a:t>Interactive return: return, enter receipt ID, MILK 1 yes, done, yes</a:t>
            </a:r>
          </a:p>
          <a:p>
            <a:pPr>
              <a:spcAft>
                <a:spcPts val="1300"/>
              </a:spcAft>
              <a:defRPr sz="2200" b="0">
                <a:solidFill>
                  <a:srgbClr val="152432"/>
                </a:solidFill>
                <a:latin typeface="Arial"/>
              </a:defRPr>
            </a:pPr>
            <a:r>
              <a:t>The console creates and retains a local SQLite database.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0972800" cy="594360"/>
          </a:xfrm>
          <a:prstGeom prst="rect">
            <a:avLst/>
          </a:prstGeom>
          <a:noFill/>
        </p:spPr>
        <p:txBody>
          <a:bodyPr wrap="square">
            <a:spAutoFit/>
          </a:bodyPr>
          <a:lstStyle/>
          <a:p>
            <a:pPr>
              <a:spcAft>
                <a:spcPts val="1300"/>
              </a:spcAft>
              <a:defRPr sz="3200" b="1">
                <a:solidFill>
                  <a:srgbClr val="152432"/>
                </a:solidFill>
                <a:latin typeface="Arial"/>
              </a:defRPr>
            </a:pPr>
            <a:r>
              <a:t>Live demonstration</a:t>
            </a:r>
          </a:p>
        </p:txBody>
      </p:sp>
      <p:sp>
        <p:nvSpPr>
          <p:cNvPr id="3" name="TextBox 2"/>
          <p:cNvSpPr txBox="1"/>
          <p:nvPr/>
        </p:nvSpPr>
        <p:spPr>
          <a:xfrm>
            <a:off x="11018520" y="6446520"/>
            <a:ext cx="457200" cy="228600"/>
          </a:xfrm>
          <a:prstGeom prst="rect">
            <a:avLst/>
          </a:prstGeom>
          <a:noFill/>
        </p:spPr>
        <p:txBody>
          <a:bodyPr wrap="square">
            <a:spAutoFit/>
          </a:bodyPr>
          <a:lstStyle/>
          <a:p>
            <a:pPr>
              <a:spcAft>
                <a:spcPts val="1300"/>
              </a:spcAft>
              <a:defRPr sz="1100" b="0">
                <a:solidFill>
                  <a:srgbClr val="52616D"/>
                </a:solidFill>
                <a:latin typeface="Arial"/>
              </a:defRPr>
            </a:pPr>
            <a:r>
              <a:t>11</a:t>
            </a:r>
          </a:p>
        </p:txBody>
      </p:sp>
      <p:graphicFrame>
        <p:nvGraphicFramePr>
          <p:cNvPr id="4" name="Table 3"/>
          <p:cNvGraphicFramePr>
            <a:graphicFrameLocks noGrp="1"/>
          </p:cNvGraphicFramePr>
          <p:nvPr/>
        </p:nvGraphicFramePr>
        <p:xfrm>
          <a:off x="731520" y="1508760"/>
          <a:ext cx="10698480" cy="4114800"/>
        </p:xfrm>
        <a:graphic>
          <a:graphicData uri="http://schemas.openxmlformats.org/drawingml/2006/table">
            <a:tbl>
              <a:tblPr firstRow="1" bandRow="1">
                <a:tableStyleId>{5C22544A-7EE6-4342-B048-85BDC9FD1C3A}</a:tableStyleId>
              </a:tblPr>
              <a:tblGrid>
                <a:gridCol w="4663440"/>
                <a:gridCol w="6035040"/>
              </a:tblGrid>
              <a:tr h="685800">
                <a:tc>
                  <a:txBody>
                    <a:bodyPr/>
                    <a:lstStyle/>
                    <a:p>
                      <a:pPr>
                        <a:defRPr sz="2100" b="1">
                          <a:solidFill>
                            <a:srgbClr val="152432"/>
                          </a:solidFill>
                          <a:latin typeface="Arial"/>
                        </a:defRPr>
                      </a:pPr>
                      <a:r>
                        <a:t>Step</a:t>
                      </a:r>
                    </a:p>
                  </a:txBody>
                  <a:tcPr>
                    <a:solidFill>
                      <a:srgbClr val="E8EEF5"/>
                    </a:solidFill>
                  </a:tcPr>
                </a:tc>
                <a:tc>
                  <a:txBody>
                    <a:bodyPr/>
                    <a:lstStyle/>
                    <a:p>
                      <a:pPr>
                        <a:defRPr sz="2100" b="1">
                          <a:solidFill>
                            <a:srgbClr val="152432"/>
                          </a:solidFill>
                          <a:latin typeface="Arial"/>
                        </a:defRPr>
                      </a:pPr>
                      <a:r>
                        <a:t>Expected result</a:t>
                      </a:r>
                    </a:p>
                  </a:txBody>
                  <a:tcPr>
                    <a:solidFill>
                      <a:srgbClr val="E8EEF5"/>
                    </a:solidFill>
                  </a:tcPr>
                </a:tc>
              </a:tr>
              <a:tr h="685800">
                <a:tc>
                  <a:txBody>
                    <a:bodyPr/>
                    <a:lstStyle/>
                    <a:p>
                      <a:pPr>
                        <a:defRPr sz="2100" b="0">
                          <a:solidFill>
                            <a:srgbClr val="152432"/>
                          </a:solidFill>
                          <a:latin typeface="Arial"/>
                        </a:defRPr>
                      </a:pPr>
                      <a:r>
                        <a:t>Sell 2 MILK and 1 BREAD</a:t>
                      </a:r>
                    </a:p>
                  </a:txBody>
                  <a:tcPr>
                    <a:solidFill>
                      <a:srgbClr val="FFFFFF"/>
                    </a:solidFill>
                  </a:tcPr>
                </a:tc>
                <a:tc>
                  <a:txBody>
                    <a:bodyPr/>
                    <a:lstStyle/>
                    <a:p>
                      <a:pPr>
                        <a:defRPr sz="2100" b="0">
                          <a:solidFill>
                            <a:srgbClr val="152432"/>
                          </a:solidFill>
                          <a:latin typeface="Arial"/>
                        </a:defRPr>
                      </a:pPr>
                      <a:r>
                        <a:t>Total CNY 21.00</a:t>
                      </a:r>
                    </a:p>
                  </a:txBody>
                  <a:tcPr>
                    <a:solidFill>
                      <a:srgbClr val="FFFFFF"/>
                    </a:solidFill>
                  </a:tcPr>
                </a:tc>
              </a:tr>
              <a:tr h="685800">
                <a:tc>
                  <a:txBody>
                    <a:bodyPr/>
                    <a:lstStyle/>
                    <a:p>
                      <a:pPr>
                        <a:defRPr sz="2100" b="0">
                          <a:solidFill>
                            <a:srgbClr val="152432"/>
                          </a:solidFill>
                          <a:latin typeface="Arial"/>
                        </a:defRPr>
                      </a:pPr>
                      <a:r>
                        <a:t>Take CNY 30.00 cash</a:t>
                      </a:r>
                    </a:p>
                  </a:txBody>
                  <a:tcPr>
                    <a:solidFill>
                      <a:srgbClr val="FFFFFF"/>
                    </a:solidFill>
                  </a:tcPr>
                </a:tc>
                <a:tc>
                  <a:txBody>
                    <a:bodyPr/>
                    <a:lstStyle/>
                    <a:p>
                      <a:pPr>
                        <a:defRPr sz="2100" b="0">
                          <a:solidFill>
                            <a:srgbClr val="152432"/>
                          </a:solidFill>
                          <a:latin typeface="Arial"/>
                        </a:defRPr>
                      </a:pPr>
                      <a:r>
                        <a:t>Change CNY 9.00</a:t>
                      </a:r>
                    </a:p>
                  </a:txBody>
                  <a:tcPr>
                    <a:solidFill>
                      <a:srgbClr val="FFFFFF"/>
                    </a:solidFill>
                  </a:tcPr>
                </a:tc>
              </a:tr>
              <a:tr h="685800">
                <a:tc>
                  <a:txBody>
                    <a:bodyPr/>
                    <a:lstStyle/>
                    <a:p>
                      <a:pPr>
                        <a:defRPr sz="2100" b="0">
                          <a:solidFill>
                            <a:srgbClr val="152432"/>
                          </a:solidFill>
                          <a:latin typeface="Arial"/>
                        </a:defRPr>
                      </a:pPr>
                      <a:r>
                        <a:t>Return 1 resalable MILK</a:t>
                      </a:r>
                    </a:p>
                  </a:txBody>
                  <a:tcPr>
                    <a:solidFill>
                      <a:srgbClr val="FFFFFF"/>
                    </a:solidFill>
                  </a:tcPr>
                </a:tc>
                <a:tc>
                  <a:txBody>
                    <a:bodyPr/>
                    <a:lstStyle/>
                    <a:p>
                      <a:pPr>
                        <a:defRPr sz="2100" b="0">
                          <a:solidFill>
                            <a:srgbClr val="152432"/>
                          </a:solidFill>
                          <a:latin typeface="Arial"/>
                        </a:defRPr>
                      </a:pPr>
                      <a:r>
                        <a:t>Refund CNY 6.50, milk stock 19</a:t>
                      </a:r>
                    </a:p>
                  </a:txBody>
                  <a:tcPr>
                    <a:solidFill>
                      <a:srgbClr val="FFFFFF"/>
                    </a:solidFill>
                  </a:tcPr>
                </a:tc>
              </a:tr>
              <a:tr h="685800">
                <a:tc>
                  <a:txBody>
                    <a:bodyPr/>
                    <a:lstStyle/>
                    <a:p>
                      <a:pPr>
                        <a:defRPr sz="2100" b="0">
                          <a:solidFill>
                            <a:srgbClr val="152432"/>
                          </a:solidFill>
                          <a:latin typeface="Arial"/>
                        </a:defRPr>
                      </a:pPr>
                      <a:r>
                        <a:t>Replay the same return token</a:t>
                      </a:r>
                    </a:p>
                  </a:txBody>
                  <a:tcPr>
                    <a:solidFill>
                      <a:srgbClr val="FFFFFF"/>
                    </a:solidFill>
                  </a:tcPr>
                </a:tc>
                <a:tc>
                  <a:txBody>
                    <a:bodyPr/>
                    <a:lstStyle/>
                    <a:p>
                      <a:pPr>
                        <a:defRPr sz="2100" b="0">
                          <a:solidFill>
                            <a:srgbClr val="152432"/>
                          </a:solidFill>
                          <a:latin typeface="Arial"/>
                        </a:defRPr>
                      </a:pPr>
                      <a:r>
                        <a:t>Same receipt and no extra restocking</a:t>
                      </a:r>
                    </a:p>
                  </a:txBody>
                  <a:tcPr>
                    <a:solidFill>
                      <a:srgbClr val="FFFFFF"/>
                    </a:solidFill>
                  </a:tcPr>
                </a:tc>
              </a:tr>
              <a:tr h="685800">
                <a:tc>
                  <a:txBody>
                    <a:bodyPr/>
                    <a:lstStyle/>
                    <a:p>
                      <a:pPr>
                        <a:defRPr sz="2100" b="0">
                          <a:solidFill>
                            <a:srgbClr val="152432"/>
                          </a:solidFill>
                          <a:latin typeface="Arial"/>
                        </a:defRPr>
                      </a:pPr>
                      <a:r>
                        <a:t>Try returning 2 more MILK</a:t>
                      </a:r>
                    </a:p>
                  </a:txBody>
                  <a:tcPr>
                    <a:solidFill>
                      <a:srgbClr val="FFFFFF"/>
                    </a:solidFill>
                  </a:tcPr>
                </a:tc>
                <a:tc>
                  <a:txBody>
                    <a:bodyPr/>
                    <a:lstStyle/>
                    <a:p>
                      <a:pPr>
                        <a:defRPr sz="2100" b="0">
                          <a:solidFill>
                            <a:srgbClr val="152432"/>
                          </a:solidFill>
                          <a:latin typeface="Arial"/>
                        </a:defRPr>
                      </a:pPr>
                      <a:r>
                        <a:t>Reject because only 1 remains returnable</a:t>
                      </a:r>
                    </a:p>
                  </a:txBody>
                  <a:tcPr>
                    <a:solidFill>
                      <a:srgbClr val="FFFFFF"/>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0972800" cy="594360"/>
          </a:xfrm>
          <a:prstGeom prst="rect">
            <a:avLst/>
          </a:prstGeom>
          <a:noFill/>
        </p:spPr>
        <p:txBody>
          <a:bodyPr wrap="square">
            <a:spAutoFit/>
          </a:bodyPr>
          <a:lstStyle/>
          <a:p>
            <a:pPr>
              <a:spcAft>
                <a:spcPts val="1300"/>
              </a:spcAft>
              <a:defRPr sz="3200" b="1">
                <a:solidFill>
                  <a:srgbClr val="152432"/>
                </a:solidFill>
                <a:latin typeface="Arial"/>
              </a:defRPr>
            </a:pPr>
            <a:r>
              <a:t>Verification</a:t>
            </a:r>
          </a:p>
        </p:txBody>
      </p:sp>
      <p:sp>
        <p:nvSpPr>
          <p:cNvPr id="3" name="TextBox 2"/>
          <p:cNvSpPr txBox="1"/>
          <p:nvPr/>
        </p:nvSpPr>
        <p:spPr>
          <a:xfrm>
            <a:off x="11018520" y="6446520"/>
            <a:ext cx="457200" cy="228600"/>
          </a:xfrm>
          <a:prstGeom prst="rect">
            <a:avLst/>
          </a:prstGeom>
          <a:noFill/>
        </p:spPr>
        <p:txBody>
          <a:bodyPr wrap="square">
            <a:spAutoFit/>
          </a:bodyPr>
          <a:lstStyle/>
          <a:p>
            <a:pPr>
              <a:spcAft>
                <a:spcPts val="1300"/>
              </a:spcAft>
              <a:defRPr sz="1100" b="0">
                <a:solidFill>
                  <a:srgbClr val="52616D"/>
                </a:solidFill>
                <a:latin typeface="Arial"/>
              </a:defRPr>
            </a:pPr>
            <a:r>
              <a:t>12</a:t>
            </a:r>
          </a:p>
        </p:txBody>
      </p:sp>
      <p:sp>
        <p:nvSpPr>
          <p:cNvPr id="4" name="TextBox 3"/>
          <p:cNvSpPr txBox="1"/>
          <p:nvPr/>
        </p:nvSpPr>
        <p:spPr>
          <a:xfrm>
            <a:off x="731520" y="1463040"/>
            <a:ext cx="10515600" cy="822960"/>
          </a:xfrm>
          <a:prstGeom prst="rect">
            <a:avLst/>
          </a:prstGeom>
          <a:noFill/>
        </p:spPr>
        <p:txBody>
          <a:bodyPr wrap="square">
            <a:spAutoFit/>
          </a:bodyPr>
          <a:lstStyle/>
          <a:p>
            <a:pPr>
              <a:spcAft>
                <a:spcPts val="1300"/>
              </a:spcAft>
              <a:defRPr sz="3300" b="1">
                <a:solidFill>
                  <a:srgbClr val="285D82"/>
                </a:solidFill>
                <a:latin typeface="Arial"/>
              </a:defRPr>
            </a:pPr>
            <a:r>
              <a:t>18 automated tests passed</a:t>
            </a:r>
          </a:p>
        </p:txBody>
      </p:sp>
      <p:sp>
        <p:nvSpPr>
          <p:cNvPr id="5" name="TextBox 4"/>
          <p:cNvSpPr txBox="1"/>
          <p:nvPr/>
        </p:nvSpPr>
        <p:spPr>
          <a:xfrm>
            <a:off x="731520" y="2468880"/>
            <a:ext cx="10515600" cy="3291840"/>
          </a:xfrm>
          <a:prstGeom prst="rect">
            <a:avLst/>
          </a:prstGeom>
          <a:noFill/>
        </p:spPr>
        <p:txBody>
          <a:bodyPr wrap="square">
            <a:spAutoFit/>
          </a:bodyPr>
          <a:lstStyle/>
          <a:p>
            <a:pPr>
              <a:spcAft>
                <a:spcPts val="1300"/>
              </a:spcAft>
              <a:defRPr sz="2500" b="0">
                <a:solidFill>
                  <a:srgbClr val="152432"/>
                </a:solidFill>
                <a:latin typeface="Arial"/>
              </a:defRPr>
            </a:pPr>
            <a:r>
              <a:t>Correct totals, change and original-price refunds</a:t>
            </a:r>
          </a:p>
          <a:p>
            <a:pPr>
              <a:spcAft>
                <a:spcPts val="1300"/>
              </a:spcAft>
              <a:defRPr sz="2500" b="0">
                <a:solidFill>
                  <a:srgbClr val="152432"/>
                </a:solidFill>
                <a:latin typeface="Arial"/>
              </a:defRPr>
            </a:pPr>
            <a:r>
              <a:t>Insufficient cash and multi-line stock rollback</a:t>
            </a:r>
          </a:p>
          <a:p>
            <a:pPr>
              <a:spcAft>
                <a:spcPts val="1300"/>
              </a:spcAft>
              <a:defRPr sz="2500" b="0">
                <a:solidFill>
                  <a:srgbClr val="152432"/>
                </a:solidFill>
                <a:latin typeface="Arial"/>
              </a:defRPr>
            </a:pPr>
            <a:r>
              <a:t>Over-returns, damaged goods and the 30-day boundary</a:t>
            </a:r>
          </a:p>
          <a:p>
            <a:pPr>
              <a:spcAft>
                <a:spcPts val="1300"/>
              </a:spcAft>
              <a:defRPr sz="2500" b="0">
                <a:solidFill>
                  <a:srgbClr val="152432"/>
                </a:solidFill>
                <a:latin typeface="Arial"/>
              </a:defRPr>
            </a:pPr>
            <a:r>
              <a:t>Repeat requests, token conflicts and persistence after reopening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0972800" cy="594360"/>
          </a:xfrm>
          <a:prstGeom prst="rect">
            <a:avLst/>
          </a:prstGeom>
          <a:noFill/>
        </p:spPr>
        <p:txBody>
          <a:bodyPr wrap="square">
            <a:spAutoFit/>
          </a:bodyPr>
          <a:lstStyle/>
          <a:p>
            <a:pPr>
              <a:spcAft>
                <a:spcPts val="1300"/>
              </a:spcAft>
              <a:defRPr sz="3200" b="1">
                <a:solidFill>
                  <a:srgbClr val="152432"/>
                </a:solidFill>
                <a:latin typeface="Arial"/>
              </a:defRPr>
            </a:pPr>
            <a:r>
              <a:t>Submission status and future work</a:t>
            </a:r>
          </a:p>
        </p:txBody>
      </p:sp>
      <p:sp>
        <p:nvSpPr>
          <p:cNvPr id="3" name="TextBox 2"/>
          <p:cNvSpPr txBox="1"/>
          <p:nvPr/>
        </p:nvSpPr>
        <p:spPr>
          <a:xfrm>
            <a:off x="11018520" y="6446520"/>
            <a:ext cx="457200" cy="228600"/>
          </a:xfrm>
          <a:prstGeom prst="rect">
            <a:avLst/>
          </a:prstGeom>
          <a:noFill/>
        </p:spPr>
        <p:txBody>
          <a:bodyPr wrap="square">
            <a:spAutoFit/>
          </a:bodyPr>
          <a:lstStyle/>
          <a:p>
            <a:pPr>
              <a:spcAft>
                <a:spcPts val="1300"/>
              </a:spcAft>
              <a:defRPr sz="1100" b="0">
                <a:solidFill>
                  <a:srgbClr val="52616D"/>
                </a:solidFill>
                <a:latin typeface="Arial"/>
              </a:defRPr>
            </a:pPr>
            <a:r>
              <a:t>13</a:t>
            </a:r>
          </a:p>
        </p:txBody>
      </p:sp>
      <p:sp>
        <p:nvSpPr>
          <p:cNvPr id="4" name="TextBox 3"/>
          <p:cNvSpPr txBox="1"/>
          <p:nvPr/>
        </p:nvSpPr>
        <p:spPr>
          <a:xfrm>
            <a:off x="731520" y="1463040"/>
            <a:ext cx="10607040" cy="4206240"/>
          </a:xfrm>
          <a:prstGeom prst="rect">
            <a:avLst/>
          </a:prstGeom>
          <a:noFill/>
        </p:spPr>
        <p:txBody>
          <a:bodyPr wrap="square">
            <a:spAutoFit/>
          </a:bodyPr>
          <a:lstStyle/>
          <a:p>
            <a:pPr>
              <a:spcAft>
                <a:spcPts val="1300"/>
              </a:spcAft>
              <a:defRPr sz="2400" b="0">
                <a:solidFill>
                  <a:srgbClr val="152432"/>
                </a:solidFill>
                <a:latin typeface="Arial"/>
              </a:defRPr>
            </a:pPr>
            <a:r>
              <a:t>Report, UML, source, tests and quiz answers are complete.</a:t>
            </a:r>
          </a:p>
          <a:p>
            <a:pPr>
              <a:spcAft>
                <a:spcPts val="1300"/>
              </a:spcAft>
              <a:defRPr sz="2400" b="0">
                <a:solidFill>
                  <a:srgbClr val="152432"/>
                </a:solidFill>
                <a:latin typeface="Arial"/>
              </a:defRPr>
            </a:pPr>
            <a:r>
              <a:t>Cash sales, returns and automated tests are demonstrated.</a:t>
            </a:r>
          </a:p>
          <a:p>
            <a:pPr>
              <a:spcAft>
                <a:spcPts val="1300"/>
              </a:spcAft>
              <a:defRPr sz="2400" b="0">
                <a:solidFill>
                  <a:srgbClr val="152432"/>
                </a:solidFill>
                <a:latin typeface="Arial"/>
              </a:defRPr>
            </a:pPr>
            <a:r>
              <a:t>The personal branch is merged into main and retained.</a:t>
            </a:r>
          </a:p>
          <a:p>
            <a:pPr>
              <a:spcAft>
                <a:spcPts val="1300"/>
              </a:spcAft>
              <a:defRPr sz="2400" b="0">
                <a:solidFill>
                  <a:srgbClr val="152432"/>
                </a:solidFill>
                <a:latin typeface="Arial"/>
              </a:defRPr>
            </a:pPr>
            <a:r>
              <a:t>Video: bilibili.com/video/BV1xgnp64E3X/</a:t>
            </a:r>
          </a:p>
          <a:p>
            <a:pPr>
              <a:spcAft>
                <a:spcPts val="1300"/>
              </a:spcAft>
              <a:defRPr sz="2400" b="0">
                <a:solidFill>
                  <a:srgbClr val="152432"/>
                </a:solidFill>
                <a:latin typeface="Arial"/>
              </a:defRPr>
            </a:pPr>
            <a:r>
              <a:t>Future work: cashier authentication, printers and payment adapters.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0972800" cy="594360"/>
          </a:xfrm>
          <a:prstGeom prst="rect">
            <a:avLst/>
          </a:prstGeom>
          <a:noFill/>
        </p:spPr>
        <p:txBody>
          <a:bodyPr wrap="square">
            <a:spAutoFit/>
          </a:bodyPr>
          <a:lstStyle/>
          <a:p>
            <a:pPr>
              <a:spcAft>
                <a:spcPts val="1300"/>
              </a:spcAft>
              <a:defRPr sz="3200" b="1">
                <a:solidFill>
                  <a:srgbClr val="152432"/>
                </a:solidFill>
                <a:latin typeface="Arial"/>
              </a:defRPr>
            </a:pPr>
            <a:r>
              <a:t>References</a:t>
            </a:r>
          </a:p>
        </p:txBody>
      </p:sp>
      <p:sp>
        <p:nvSpPr>
          <p:cNvPr id="3" name="TextBox 2"/>
          <p:cNvSpPr txBox="1"/>
          <p:nvPr/>
        </p:nvSpPr>
        <p:spPr>
          <a:xfrm>
            <a:off x="11018520" y="6446520"/>
            <a:ext cx="457200" cy="228600"/>
          </a:xfrm>
          <a:prstGeom prst="rect">
            <a:avLst/>
          </a:prstGeom>
          <a:noFill/>
        </p:spPr>
        <p:txBody>
          <a:bodyPr wrap="square">
            <a:spAutoFit/>
          </a:bodyPr>
          <a:lstStyle/>
          <a:p>
            <a:pPr>
              <a:spcAft>
                <a:spcPts val="1300"/>
              </a:spcAft>
              <a:defRPr sz="1100" b="0">
                <a:solidFill>
                  <a:srgbClr val="52616D"/>
                </a:solidFill>
                <a:latin typeface="Arial"/>
              </a:defRPr>
            </a:pPr>
            <a:r>
              <a:t>14</a:t>
            </a:r>
          </a:p>
        </p:txBody>
      </p:sp>
      <p:sp>
        <p:nvSpPr>
          <p:cNvPr id="4" name="TextBox 3"/>
          <p:cNvSpPr txBox="1"/>
          <p:nvPr/>
        </p:nvSpPr>
        <p:spPr>
          <a:xfrm>
            <a:off x="731520" y="1554480"/>
            <a:ext cx="10607040" cy="4297680"/>
          </a:xfrm>
          <a:prstGeom prst="rect">
            <a:avLst/>
          </a:prstGeom>
          <a:noFill/>
        </p:spPr>
        <p:txBody>
          <a:bodyPr wrap="square">
            <a:spAutoFit/>
          </a:bodyPr>
          <a:lstStyle/>
          <a:p>
            <a:pPr>
              <a:spcAft>
                <a:spcPts val="1300"/>
              </a:spcAft>
              <a:defRPr sz="2300" b="0">
                <a:solidFill>
                  <a:srgbClr val="152432"/>
                </a:solidFill>
                <a:latin typeface="Arial"/>
              </a:defRPr>
            </a:pPr>
            <a:r>
              <a:t>Craig Larman, Applying UML and Patterns, 3rd edition, 2005.</a:t>
            </a:r>
          </a:p>
          <a:p>
            <a:pPr>
              <a:spcAft>
                <a:spcPts val="1300"/>
              </a:spcAft>
              <a:defRPr sz="2300" b="0">
                <a:solidFill>
                  <a:srgbClr val="152432"/>
                </a:solidFill>
                <a:latin typeface="Arial"/>
              </a:defRPr>
            </a:pPr>
            <a:r>
              <a:t>Chapters 6, 9, 10, 13, 17 and 18 provide the core modeling method.</a:t>
            </a:r>
          </a:p>
          <a:p>
            <a:pPr>
              <a:spcAft>
                <a:spcPts val="1300"/>
              </a:spcAft>
              <a:defRPr sz="2300" b="0">
                <a:solidFill>
                  <a:srgbClr val="152432"/>
                </a:solidFill>
                <a:latin typeface="Arial"/>
              </a:defRPr>
            </a:pPr>
            <a:r>
              <a:t>Software Engineering Practice Assignment and institutional cover template.</a:t>
            </a:r>
          </a:p>
          <a:p>
            <a:pPr>
              <a:spcAft>
                <a:spcPts val="1300"/>
              </a:spcAft>
              <a:defRPr sz="2300" b="0">
                <a:solidFill>
                  <a:srgbClr val="152432"/>
                </a:solidFill>
                <a:latin typeface="Arial"/>
              </a:defRPr>
            </a:pPr>
            <a:r>
              <a:t>Software Engineering Practice Quiz1 and Quiz2.</a:t>
            </a:r>
          </a:p>
          <a:p>
            <a:pPr>
              <a:spcAft>
                <a:spcPts val="1300"/>
              </a:spcAft>
              <a:defRPr sz="2300" b="0">
                <a:solidFill>
                  <a:srgbClr val="152432"/>
                </a:solidFill>
                <a:latin typeface="Arial"/>
              </a:defRPr>
            </a:pPr>
            <a:r>
              <a:t>Repository: github.com/denniswang12345/ProjectPos_2026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